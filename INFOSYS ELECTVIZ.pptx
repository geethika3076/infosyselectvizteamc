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0" r:id="rId15"/>
    <p:sldId id="271" r:id="rId16"/>
    <p:sldId id="269" r:id="rId17"/>
  </p:sldIdLst>
  <p:sldSz cx="18288000" cy="10287000"/>
  <p:notesSz cx="6858000" cy="9144000"/>
  <p:embeddedFontLst>
    <p:embeddedFont>
      <p:font typeface="DM Serif Display" pitchFamily="2" charset="0"/>
      <p:regular r:id="rId18"/>
      <p:italic r:id="rId19"/>
    </p:embeddedFont>
    <p:embeddedFont>
      <p:font typeface="Open Sauce" panose="020B0604020202020204" charset="0"/>
      <p:regular r:id="rId20"/>
    </p:embeddedFont>
    <p:embeddedFont>
      <p:font typeface="Open Sauc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73222" y="428540"/>
            <a:ext cx="4123974" cy="2675023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7201" y="1078370"/>
            <a:ext cx="9316373" cy="24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99"/>
              </a:lnSpc>
            </a:pPr>
            <a:r>
              <a:rPr lang="en-US" sz="14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ELECTVIZ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4567" y="3396121"/>
            <a:ext cx="10757774" cy="74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ELECTION DATA VISUALIZATION FOR MEDIA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2341" y="5527111"/>
            <a:ext cx="4278101" cy="337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TEAM C</a:t>
            </a:r>
          </a:p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GEETHIKA SUNIL</a:t>
            </a:r>
          </a:p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JANHAVI SHARMA</a:t>
            </a:r>
          </a:p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OMKAR DONGARE</a:t>
            </a:r>
          </a:p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SOWMIYA P</a:t>
            </a:r>
          </a:p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ASHUTOSH JHA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03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96239"/>
            <a:ext cx="6667500" cy="627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4000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OBJECTIVE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5CACCC86-217A-E38B-2F95-819BB7CC37B3}"/>
              </a:ext>
            </a:extLst>
          </p:cNvPr>
          <p:cNvSpPr/>
          <p:nvPr/>
        </p:nvSpPr>
        <p:spPr>
          <a:xfrm>
            <a:off x="14935200" y="81883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C2F65-52C3-3FFB-78A2-AE6F39841C65}"/>
              </a:ext>
            </a:extLst>
          </p:cNvPr>
          <p:cNvSpPr txBox="1"/>
          <p:nvPr/>
        </p:nvSpPr>
        <p:spPr>
          <a:xfrm>
            <a:off x="1447800" y="1420151"/>
            <a:ext cx="134874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800" dirty="0">
                <a:latin typeface="Open Sauce" panose="020B0604020202020204" charset="0"/>
              </a:rPr>
              <a:t>Integrate multi-election historical datasets</a:t>
            </a:r>
          </a:p>
          <a:p>
            <a:endParaRPr lang="en-IN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Open Sauce" panose="020B0604020202020204" charset="0"/>
              </a:rPr>
              <a:t>Standardize and clean public election data</a:t>
            </a:r>
          </a:p>
          <a:p>
            <a:endParaRPr lang="en-IN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Open Sauce" panose="020B0604020202020204" charset="0"/>
              </a:rPr>
              <a:t>Design star schema data model</a:t>
            </a:r>
          </a:p>
          <a:p>
            <a:endParaRPr lang="en-IN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Open Sauce" panose="020B0604020202020204" charset="0"/>
              </a:rPr>
              <a:t>Develop interactive dashboards for media analysis</a:t>
            </a:r>
          </a:p>
          <a:p>
            <a:endParaRPr lang="en-IN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Open Sauce" panose="020B0604020202020204" charset="0"/>
              </a:rPr>
              <a:t>Enable real-time and historical election insights</a:t>
            </a:r>
          </a:p>
          <a:p>
            <a:endParaRPr lang="en-IN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Open Sauce" panose="020B0604020202020204" charset="0"/>
              </a:rPr>
              <a:t>Support data-driven reporting and broadcast visualization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9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49C8D91-FF9F-B106-7EAF-998DEDF8FDDE}"/>
              </a:ext>
            </a:extLst>
          </p:cNvPr>
          <p:cNvSpPr/>
          <p:nvPr/>
        </p:nvSpPr>
        <p:spPr>
          <a:xfrm>
            <a:off x="15161502" y="103677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638F7-BB0C-6C26-A9CF-79EA9CA52D3F}"/>
              </a:ext>
            </a:extLst>
          </p:cNvPr>
          <p:cNvSpPr txBox="1"/>
          <p:nvPr/>
        </p:nvSpPr>
        <p:spPr>
          <a:xfrm>
            <a:off x="1524000" y="8001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latin typeface="Open Sauce Bold" panose="020B0604020202020204" charset="0"/>
              </a:rPr>
              <a:t>PROJECT</a:t>
            </a:r>
            <a:r>
              <a:rPr lang="en-IN" sz="3600" b="1" u="sng" dirty="0">
                <a:latin typeface="Open Sauce" panose="020B0604020202020204" charset="0"/>
              </a:rPr>
              <a:t> </a:t>
            </a:r>
            <a:r>
              <a:rPr lang="en-IN" sz="4000" b="1" u="sng" dirty="0">
                <a:latin typeface="Open Sauce Bold" panose="020B0604020202020204" charset="0"/>
              </a:rPr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B65C5-2C5F-E6E3-854F-C1902F3C7830}"/>
              </a:ext>
            </a:extLst>
          </p:cNvPr>
          <p:cNvSpPr txBox="1"/>
          <p:nvPr/>
        </p:nvSpPr>
        <p:spPr>
          <a:xfrm>
            <a:off x="1524000" y="2095500"/>
            <a:ext cx="14020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uce "/>
              </a:rPr>
              <a:t>The system: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Imports multi-year Lok Sabha and Vidhan Sabha datasets</a:t>
            </a:r>
          </a:p>
          <a:p>
            <a:endParaRPr lang="en-US" sz="2800" dirty="0">
              <a:latin typeface="Open Sauce 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Cleans and standardizes state, constituency, party, and candidate data</a:t>
            </a:r>
          </a:p>
          <a:p>
            <a:endParaRPr lang="en-US" sz="2800" dirty="0">
              <a:latin typeface="Open Sauce 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Builds a star schema model for structured analysis</a:t>
            </a:r>
          </a:p>
          <a:p>
            <a:endParaRPr lang="en-US" sz="2800" dirty="0">
              <a:latin typeface="Open Sauce 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Creates interactive dashboards with filtering and drill-down</a:t>
            </a:r>
          </a:p>
          <a:p>
            <a:endParaRPr lang="en-US" sz="2800" dirty="0">
              <a:latin typeface="Open Sauce 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Simulates real-time election result updates</a:t>
            </a:r>
          </a:p>
          <a:p>
            <a:endParaRPr lang="en-US" sz="2800" dirty="0">
              <a:latin typeface="Open Sauce 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The platform enables journalists and analysts to visualize vote share trends, turnout patterns, party dominance, demographic engagement, and constituency-level insights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6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295400" y="571500"/>
            <a:ext cx="5257800" cy="1035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359"/>
              </a:lnSpc>
              <a:spcBef>
                <a:spcPct val="0"/>
              </a:spcBef>
            </a:pPr>
            <a:r>
              <a:rPr lang="en-IN" sz="4000" u="sng" dirty="0">
                <a:latin typeface="Open Sauce Bold" panose="020B0604020202020204" charset="0"/>
              </a:rPr>
              <a:t>MILESTONE 1 </a:t>
            </a:r>
            <a:endParaRPr lang="en-US" sz="4000" b="1" u="sng" dirty="0">
              <a:solidFill>
                <a:srgbClr val="000000"/>
              </a:solidFill>
              <a:latin typeface="Open Sauce Bold" panose="020B060402020202020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9B63252-9216-43D4-7833-B7EDEEBD1B16}"/>
              </a:ext>
            </a:extLst>
          </p:cNvPr>
          <p:cNvSpPr/>
          <p:nvPr/>
        </p:nvSpPr>
        <p:spPr>
          <a:xfrm>
            <a:off x="15368139" y="266700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D794B8-883B-66EC-AAB7-EA25E5127C39}"/>
              </a:ext>
            </a:extLst>
          </p:cNvPr>
          <p:cNvSpPr txBox="1"/>
          <p:nvPr/>
        </p:nvSpPr>
        <p:spPr>
          <a:xfrm>
            <a:off x="1143000" y="2247900"/>
            <a:ext cx="1402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1BFF64-0A0B-056E-E1CB-97249BA16278}"/>
              </a:ext>
            </a:extLst>
          </p:cNvPr>
          <p:cNvSpPr txBox="1"/>
          <p:nvPr/>
        </p:nvSpPr>
        <p:spPr>
          <a:xfrm>
            <a:off x="990599" y="2617232"/>
            <a:ext cx="143775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Open Sauce "/>
              </a:rPr>
              <a:t> </a:t>
            </a:r>
            <a:r>
              <a:rPr lang="en-US" sz="2800" dirty="0">
                <a:latin typeface="Open Sauce "/>
              </a:rPr>
              <a:t>Historical data from multiple elections imported and cleaned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 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Star schema created with valid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 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Candidates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 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Votes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 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Constituencies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 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 "/>
              </a:rPr>
              <a:t>Parties</a:t>
            </a:r>
            <a:endParaRPr lang="en-IN" sz="2800" dirty="0">
              <a:latin typeface="Open Sauce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-381000" y="1293142"/>
            <a:ext cx="12296678" cy="63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DASHBOARD-LOKSABHA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E0A9CA2-9B57-8368-CDBC-720B5992BCA2}"/>
              </a:ext>
            </a:extLst>
          </p:cNvPr>
          <p:cNvSpPr/>
          <p:nvPr/>
        </p:nvSpPr>
        <p:spPr>
          <a:xfrm>
            <a:off x="15365681" y="94723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69F86-E174-0928-7DFF-AC570D639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03" y="2208141"/>
            <a:ext cx="13944600" cy="7696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D0207C-64B4-A15A-3B5C-933CC331B195}"/>
              </a:ext>
            </a:extLst>
          </p:cNvPr>
          <p:cNvSpPr txBox="1"/>
          <p:nvPr/>
        </p:nvSpPr>
        <p:spPr>
          <a:xfrm>
            <a:off x="838200" y="498364"/>
            <a:ext cx="6366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Open Sauce Bold" panose="020B0604020202020204" charset="0"/>
              </a:rPr>
              <a:t>MILESTONE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204348" y="40159"/>
            <a:ext cx="11301851" cy="60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HISTORICAL TRENDS DASHBOARD-VIDHANSABHA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5A4F720-4E24-993A-C275-BC11CA6545A8}"/>
              </a:ext>
            </a:extLst>
          </p:cNvPr>
          <p:cNvSpPr/>
          <p:nvPr/>
        </p:nvSpPr>
        <p:spPr>
          <a:xfrm>
            <a:off x="15380430" y="75801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8D3BE-2EB3-0EDB-FDE5-7D3A16840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65" y="820790"/>
            <a:ext cx="14854819" cy="8589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2328162-6CC1-608D-4DE3-C7D4FC7F0ADB}"/>
              </a:ext>
            </a:extLst>
          </p:cNvPr>
          <p:cNvSpPr/>
          <p:nvPr/>
        </p:nvSpPr>
        <p:spPr>
          <a:xfrm>
            <a:off x="15163800" y="35642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6AE50-7922-176E-3957-2A885116A5B7}"/>
              </a:ext>
            </a:extLst>
          </p:cNvPr>
          <p:cNvSpPr txBox="1"/>
          <p:nvPr/>
        </p:nvSpPr>
        <p:spPr>
          <a:xfrm>
            <a:off x="1143000" y="495300"/>
            <a:ext cx="1249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</a:t>
            </a:r>
            <a:r>
              <a:rPr lang="en-IN" sz="4000" dirty="0">
                <a:latin typeface="Open Sauce Bold" panose="020B0604020202020204" charset="0"/>
              </a:rPr>
              <a:t>HISTORICAL TRENDS DASHBOARD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0F73F-29C1-0965-483C-5DC63CEA9BB1}"/>
              </a:ext>
            </a:extLst>
          </p:cNvPr>
          <p:cNvSpPr txBox="1"/>
          <p:nvPr/>
        </p:nvSpPr>
        <p:spPr>
          <a:xfrm>
            <a:off x="2057400" y="2019300"/>
            <a:ext cx="12496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Vote Share Dashboard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Turnout Dashboard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Filter functionality enabled</a:t>
            </a:r>
          </a:p>
          <a:p>
            <a:endParaRPr lang="en-US" sz="2800" dirty="0">
              <a:latin typeface="Open Sauce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     Year</a:t>
            </a:r>
          </a:p>
          <a:p>
            <a:pPr lvl="1"/>
            <a:endParaRPr lang="en-US" sz="2800" dirty="0">
              <a:latin typeface="Open Sauce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     Party</a:t>
            </a:r>
          </a:p>
          <a:p>
            <a:pPr lvl="1"/>
            <a:endParaRPr lang="en-US" sz="2800" dirty="0">
              <a:latin typeface="Open Sauce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     State</a:t>
            </a:r>
            <a:endParaRPr lang="en-IN" sz="2800" dirty="0">
              <a:latin typeface="Open Sauce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1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-838200" y="719180"/>
            <a:ext cx="11116569" cy="63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TIME RESULTS DASHBOARD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952BC0E-7B3A-AC53-B128-60EC04DBDEB8}"/>
              </a:ext>
            </a:extLst>
          </p:cNvPr>
          <p:cNvSpPr/>
          <p:nvPr/>
        </p:nvSpPr>
        <p:spPr>
          <a:xfrm>
            <a:off x="15163800" y="0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88C956-2CE7-5203-B4C0-77A692CA8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71864"/>
            <a:ext cx="14239875" cy="78388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C2DAB-AA4A-40FD-0E34-997C1F450D3B}"/>
              </a:ext>
            </a:extLst>
          </p:cNvPr>
          <p:cNvSpPr txBox="1"/>
          <p:nvPr/>
        </p:nvSpPr>
        <p:spPr>
          <a:xfrm>
            <a:off x="1093971" y="145015"/>
            <a:ext cx="929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Open Sauce Bold" panose="020B0604020202020204" charset="0"/>
              </a:rPr>
              <a:t>MILESTONE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62" y="-221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28700" y="344803"/>
            <a:ext cx="5295900" cy="683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  <a:spcBef>
                <a:spcPct val="0"/>
              </a:spcBef>
            </a:pPr>
            <a:r>
              <a:rPr lang="en-US" sz="35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INSIGHTS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0731953-AE87-FF97-DB8D-2398FAD46A11}"/>
              </a:ext>
            </a:extLst>
          </p:cNvPr>
          <p:cNvSpPr/>
          <p:nvPr/>
        </p:nvSpPr>
        <p:spPr>
          <a:xfrm>
            <a:off x="15240000" y="15977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5E4D4-335E-CAB8-92A8-2676D9ED0F7A}"/>
              </a:ext>
            </a:extLst>
          </p:cNvPr>
          <p:cNvSpPr txBox="1"/>
          <p:nvPr/>
        </p:nvSpPr>
        <p:spPr>
          <a:xfrm>
            <a:off x="1600200" y="1790700"/>
            <a:ext cx="13030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Open Sauce" panose="020B0604020202020204" charset="0"/>
              </a:rPr>
              <a:t>Current leading party and seat distribution.</a:t>
            </a:r>
          </a:p>
          <a:p>
            <a:endParaRPr lang="en-US" sz="36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Open Sauce" panose="020B0604020202020204" charset="0"/>
              </a:rPr>
              <a:t>Narrow margins in competitive constituencies.</a:t>
            </a:r>
          </a:p>
          <a:p>
            <a:endParaRPr lang="en-US" sz="36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Open Sauce" panose="020B0604020202020204" charset="0"/>
              </a:rPr>
              <a:t>Regional dominance patterns.</a:t>
            </a:r>
          </a:p>
          <a:p>
            <a:endParaRPr lang="en-US" sz="36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Open Sauce" panose="020B0604020202020204" charset="0"/>
              </a:rPr>
              <a:t>Vote percentage gap between major parties.</a:t>
            </a:r>
          </a:p>
          <a:p>
            <a:endParaRPr lang="en-US" sz="36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Open Sauce" panose="020B0604020202020204" charset="0"/>
              </a:rPr>
              <a:t>Trend comparison with previous elections.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18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381000" y="1192960"/>
            <a:ext cx="8421075" cy="60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  <a:spcBef>
                <a:spcPct val="0"/>
              </a:spcBef>
            </a:pPr>
            <a:r>
              <a:rPr lang="en-US" sz="32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Turnouts &amp; Demographic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2925" y="2160905"/>
            <a:ext cx="16663392" cy="693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Scope of Model</a:t>
            </a: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Analyze voter turnout patterns across states and demographics.</a:t>
            </a:r>
          </a:p>
          <a:p>
            <a:pPr algn="l">
              <a:lnSpc>
                <a:spcPts val="4640"/>
              </a:lnSpc>
            </a:pPr>
            <a:endParaRPr lang="en-US" sz="29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</a:t>
            </a: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Understand how demographic factors influence voter participation.</a:t>
            </a:r>
          </a:p>
          <a:p>
            <a:pPr algn="l">
              <a:lnSpc>
                <a:spcPts val="4640"/>
              </a:lnSpc>
            </a:pPr>
            <a:endParaRPr lang="en-US" sz="29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Level of Analysis</a:t>
            </a: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State and constituency-level comparison with urban–rural segmentation</a:t>
            </a:r>
          </a:p>
          <a:p>
            <a:pPr algn="l">
              <a:lnSpc>
                <a:spcPts val="4640"/>
              </a:lnSpc>
            </a:pP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Interactive filtering by year, state, gender, and region.</a:t>
            </a:r>
          </a:p>
          <a:p>
            <a:pPr algn="l">
              <a:lnSpc>
                <a:spcPts val="4640"/>
              </a:lnSpc>
            </a:pPr>
            <a:endParaRPr lang="en-US" sz="29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Visualization</a:t>
            </a: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Bar charts, pie charts, and heatmaps for turnout distribution.</a:t>
            </a:r>
          </a:p>
          <a:p>
            <a:pPr algn="l">
              <a:lnSpc>
                <a:spcPts val="4640"/>
              </a:lnSpc>
            </a:pPr>
            <a:endParaRPr lang="en-US" sz="29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Insights</a:t>
            </a:r>
            <a:r>
              <a:rPr lang="en-US" sz="2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Identifies regions and demographics with high or low voter engagement.</a:t>
            </a:r>
          </a:p>
          <a:p>
            <a:pPr algn="l">
              <a:lnSpc>
                <a:spcPts val="4640"/>
              </a:lnSpc>
            </a:pPr>
            <a:endParaRPr lang="en-US" sz="29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429E39A-5940-E6F3-55E5-D9650C272A99}"/>
              </a:ext>
            </a:extLst>
          </p:cNvPr>
          <p:cNvSpPr/>
          <p:nvPr/>
        </p:nvSpPr>
        <p:spPr>
          <a:xfrm>
            <a:off x="15240000" y="33184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79B2E-B8A1-378E-CCA9-6D3841F58F87}"/>
              </a:ext>
            </a:extLst>
          </p:cNvPr>
          <p:cNvSpPr txBox="1"/>
          <p:nvPr/>
        </p:nvSpPr>
        <p:spPr>
          <a:xfrm>
            <a:off x="1066800" y="495300"/>
            <a:ext cx="883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Open Sauce Bold" panose="020B0604020202020204" charset="0"/>
              </a:rPr>
              <a:t>MILESTONE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110" y="176325"/>
            <a:ext cx="7820490" cy="660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4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DEMOGRAPHICS DASHBOARD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3DD0CCD-E469-FAA5-B16F-712CF7626B51}"/>
              </a:ext>
            </a:extLst>
          </p:cNvPr>
          <p:cNvSpPr/>
          <p:nvPr/>
        </p:nvSpPr>
        <p:spPr>
          <a:xfrm>
            <a:off x="15163800" y="117546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FB8403-3E00-9F55-C4CC-B671B6D40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567" y="1758041"/>
            <a:ext cx="15240000" cy="784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8600" y="904870"/>
            <a:ext cx="13314031" cy="660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4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PARTY AND CANDIDATE PERFORMANCE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6769" y="1729053"/>
            <a:ext cx="15859363" cy="709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1318" lvl="1" indent="-380659" algn="l">
              <a:lnSpc>
                <a:spcPts val="5642"/>
              </a:lnSpc>
              <a:buFont typeface="Arial"/>
              <a:buChar char="•"/>
            </a:pPr>
            <a:r>
              <a:rPr lang="en-US" sz="352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Analyzes party-wise seat share and vote percentage across elections</a:t>
            </a:r>
          </a:p>
          <a:p>
            <a:pPr algn="l">
              <a:lnSpc>
                <a:spcPts val="5642"/>
              </a:lnSpc>
            </a:pPr>
            <a:endParaRPr lang="en-US" sz="3526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61318" lvl="1" indent="-380659" algn="l">
              <a:lnSpc>
                <a:spcPts val="5642"/>
              </a:lnSpc>
              <a:buFont typeface="Arial"/>
              <a:buChar char="•"/>
            </a:pPr>
            <a:r>
              <a:rPr lang="en-US" sz="352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Compares performance of different parties over multiple years</a:t>
            </a:r>
          </a:p>
          <a:p>
            <a:pPr algn="l">
              <a:lnSpc>
                <a:spcPts val="5642"/>
              </a:lnSpc>
            </a:pPr>
            <a:endParaRPr lang="en-US" sz="3526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61318" lvl="1" indent="-380659" algn="l">
              <a:lnSpc>
                <a:spcPts val="5642"/>
              </a:lnSpc>
              <a:buFont typeface="Arial"/>
              <a:buChar char="•"/>
            </a:pPr>
            <a:r>
              <a:rPr lang="en-US" sz="352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Evaluates candidate win/loss margins and re-election trends</a:t>
            </a:r>
          </a:p>
          <a:p>
            <a:pPr algn="l">
              <a:lnSpc>
                <a:spcPts val="5642"/>
              </a:lnSpc>
            </a:pPr>
            <a:endParaRPr lang="en-US" sz="3526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61318" lvl="1" indent="-380659" algn="l">
              <a:lnSpc>
                <a:spcPts val="5642"/>
              </a:lnSpc>
              <a:buFont typeface="Arial"/>
              <a:buChar char="•"/>
            </a:pPr>
            <a:r>
              <a:rPr lang="en-US" sz="352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Identifies top-performing candidates and competitive constituencies</a:t>
            </a:r>
          </a:p>
          <a:p>
            <a:pPr algn="l">
              <a:lnSpc>
                <a:spcPts val="5642"/>
              </a:lnSpc>
            </a:pPr>
            <a:endParaRPr lang="en-US" sz="3526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61318" lvl="1" indent="-380659" algn="l">
              <a:lnSpc>
                <a:spcPts val="5642"/>
              </a:lnSpc>
              <a:buFont typeface="Arial"/>
              <a:buChar char="•"/>
            </a:pPr>
            <a:r>
              <a:rPr lang="en-US" sz="352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Provides drill-down analysis at state and constituency levels</a:t>
            </a:r>
          </a:p>
          <a:p>
            <a:pPr algn="ctr">
              <a:lnSpc>
                <a:spcPts val="5642"/>
              </a:lnSpc>
            </a:pPr>
            <a:endParaRPr lang="en-US" sz="3526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0AA44B8-41DA-34E4-22E5-D85C0735F36D}"/>
              </a:ext>
            </a:extLst>
          </p:cNvPr>
          <p:cNvSpPr/>
          <p:nvPr/>
        </p:nvSpPr>
        <p:spPr>
          <a:xfrm>
            <a:off x="15240000" y="126912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42F54-35DF-3110-975B-795E185E3CCF}"/>
              </a:ext>
            </a:extLst>
          </p:cNvPr>
          <p:cNvSpPr txBox="1"/>
          <p:nvPr/>
        </p:nvSpPr>
        <p:spPr>
          <a:xfrm>
            <a:off x="990600" y="269072"/>
            <a:ext cx="1127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Open Sauce Bold" panose="020B0604020202020204" charset="0"/>
              </a:rPr>
              <a:t>MILESTONE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EC580B-5293-9739-AECA-AFA3F01319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BC0BA-3584-5092-EF43-AF86978FE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28700"/>
            <a:ext cx="15544799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23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B6BB92-2EFC-0A90-12AE-124A7120300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CE7FC-C470-8320-B6BE-00604277A3BC}"/>
              </a:ext>
            </a:extLst>
          </p:cNvPr>
          <p:cNvSpPr txBox="1"/>
          <p:nvPr/>
        </p:nvSpPr>
        <p:spPr>
          <a:xfrm>
            <a:off x="990600" y="4953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Open Sauce Bold" panose="020B0604020202020204" charset="0"/>
              </a:rPr>
              <a:t>PROJECT EXECUTION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A8AC0-AECC-6D3B-ACA8-85DE7643FF7F}"/>
              </a:ext>
            </a:extLst>
          </p:cNvPr>
          <p:cNvSpPr txBox="1"/>
          <p:nvPr/>
        </p:nvSpPr>
        <p:spPr>
          <a:xfrm>
            <a:off x="990600" y="1562099"/>
            <a:ext cx="139446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Open Sauce" panose="020B0604020202020204" charset="0"/>
            </a:endParaRPr>
          </a:p>
          <a:p>
            <a:r>
              <a:rPr lang="en-US" sz="2400" dirty="0">
                <a:latin typeface="Open Sauce" panose="020B0604020202020204" charset="0"/>
              </a:rPr>
              <a:t>The project execution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Multi-source election dataset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Data cleaning and transformation using Power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Star schema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DAX measures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 Vote 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Seat Share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Turnout %</a:t>
            </a:r>
          </a:p>
          <a:p>
            <a:endParaRPr lang="en-US" sz="24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Dashboard development in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Open Sauce" panose="020B0604020202020204" charset="0"/>
              </a:rPr>
              <a:t>Interactive filtering and drill-through configuration</a:t>
            </a:r>
            <a:endParaRPr lang="en-IN" sz="2400" dirty="0"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81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BD444B-97D0-1AC6-C2AA-BB54F3CB22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4BC47-7768-E250-04CF-6AA90008315E}"/>
              </a:ext>
            </a:extLst>
          </p:cNvPr>
          <p:cNvSpPr txBox="1"/>
          <p:nvPr/>
        </p:nvSpPr>
        <p:spPr>
          <a:xfrm>
            <a:off x="1371600" y="647700"/>
            <a:ext cx="678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u="sng" dirty="0">
                <a:latin typeface="Open Sauce Bold" panose="020B0604020202020204" charset="0"/>
              </a:rPr>
              <a:t>CHALLENGES FACED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878E1-F825-E16C-2651-3A3C17652A88}"/>
              </a:ext>
            </a:extLst>
          </p:cNvPr>
          <p:cNvSpPr txBox="1"/>
          <p:nvPr/>
        </p:nvSpPr>
        <p:spPr>
          <a:xfrm>
            <a:off x="1371600" y="1790700"/>
            <a:ext cx="11277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Inconsistent state-wise dataset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Large volume of multi-year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Standardizing party and constituency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Creating accurate DAX 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Open Sauc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Open Sauce" panose="020B0604020202020204" charset="0"/>
              </a:rPr>
              <a:t>Optimizing dashboard performance</a:t>
            </a:r>
            <a:endParaRPr lang="en-IN" sz="2800" dirty="0"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31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848209" y="573086"/>
            <a:ext cx="4104791" cy="758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en-US" sz="3999" b="1" u="sng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2580" y="1923794"/>
            <a:ext cx="17755420" cy="6633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 algn="l">
              <a:lnSpc>
                <a:spcPts val="527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Successfully integrated and standardized multi-state election datasets.</a:t>
            </a:r>
          </a:p>
          <a:p>
            <a:pPr algn="l">
              <a:lnSpc>
                <a:spcPts val="5279"/>
              </a:lnSpc>
            </a:pPr>
            <a:endParaRPr lang="en-US" sz="32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12465" lvl="1" indent="-356233" algn="l">
              <a:lnSpc>
                <a:spcPts val="527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Developed interactive Power BI dashboards for historical, real-time, and demographic analysis.</a:t>
            </a:r>
          </a:p>
          <a:p>
            <a:pPr algn="l">
              <a:lnSpc>
                <a:spcPts val="5279"/>
              </a:lnSpc>
            </a:pPr>
            <a:endParaRPr lang="en-US" sz="32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12465" lvl="1" indent="-356233" algn="l">
              <a:lnSpc>
                <a:spcPts val="527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Enabled clear visualization of party performance, voter turnout, and electoral trends.</a:t>
            </a:r>
          </a:p>
          <a:p>
            <a:pPr algn="l">
              <a:lnSpc>
                <a:spcPts val="5279"/>
              </a:lnSpc>
            </a:pPr>
            <a:endParaRPr lang="en-US" sz="32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12465" lvl="1" indent="-356233" algn="l">
              <a:lnSpc>
                <a:spcPts val="527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Provided data-driven insights to support news reporting and analytical decision-making.</a:t>
            </a:r>
          </a:p>
          <a:p>
            <a:pPr algn="l">
              <a:lnSpc>
                <a:spcPts val="5279"/>
              </a:lnSpc>
            </a:pPr>
            <a:endParaRPr lang="en-US" sz="32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EB8480B-8D58-4590-8804-64D0157AC6A3}"/>
              </a:ext>
            </a:extLst>
          </p:cNvPr>
          <p:cNvSpPr/>
          <p:nvPr/>
        </p:nvSpPr>
        <p:spPr>
          <a:xfrm>
            <a:off x="15240000" y="1229"/>
            <a:ext cx="2900196" cy="1438360"/>
          </a:xfrm>
          <a:custGeom>
            <a:avLst/>
            <a:gdLst/>
            <a:ahLst/>
            <a:cxnLst/>
            <a:rect l="l" t="t" r="r" b="b"/>
            <a:pathLst>
              <a:path w="4123974" h="2675023">
                <a:moveTo>
                  <a:pt x="0" y="0"/>
                </a:moveTo>
                <a:lnTo>
                  <a:pt x="4123974" y="0"/>
                </a:lnTo>
                <a:lnTo>
                  <a:pt x="4123974" y="2675023"/>
                </a:lnTo>
                <a:lnTo>
                  <a:pt x="0" y="2675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53" t="-58132" r="-63655" b="-5684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465</Words>
  <Application>Microsoft Office PowerPoint</Application>
  <PresentationFormat>Custom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Sauce</vt:lpstr>
      <vt:lpstr>Arial</vt:lpstr>
      <vt:lpstr>DM Serif Display</vt:lpstr>
      <vt:lpstr>Calibri</vt:lpstr>
      <vt:lpstr>Open Sauce 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Janhavi Sharma</dc:creator>
  <cp:lastModifiedBy>GEETHIKA SUNIL</cp:lastModifiedBy>
  <cp:revision>10</cp:revision>
  <dcterms:created xsi:type="dcterms:W3CDTF">2006-08-16T00:00:00Z</dcterms:created>
  <dcterms:modified xsi:type="dcterms:W3CDTF">2026-02-27T11:33:41Z</dcterms:modified>
  <dc:identifier>DAHCPip4DPA</dc:identifier>
</cp:coreProperties>
</file>