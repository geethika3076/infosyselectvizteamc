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8288000" cy="10287000"/>
  <p:notesSz cx="6858000" cy="9144000"/>
  <p:embeddedFontLst>
    <p:embeddedFont>
      <p:font typeface="DM Serif Display" pitchFamily="2" charset="0"/>
      <p:regular r:id="rId18"/>
      <p:italic r:id="rId19"/>
    </p:embeddedFont>
    <p:embeddedFont>
      <p:font typeface="Open Sauce" panose="020B0604020202020204" charset="0"/>
      <p:regular r:id="rId20"/>
    </p:embeddedFont>
    <p:embeddedFont>
      <p:font typeface="Open Sauce Bold" panose="020B0604020202020204" charset="0"/>
      <p:regular r:id="rId2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EETHIKA SUNIL" userId="9f9928bb1df66dfb" providerId="LiveId" clId="{8619BDDA-A768-4A6C-B886-D33A97557DE4}"/>
    <pc:docChg chg="undo custSel modSld">
      <pc:chgData name="GEETHIKA SUNIL" userId="9f9928bb1df66dfb" providerId="LiveId" clId="{8619BDDA-A768-4A6C-B886-D33A97557DE4}" dt="2026-03-05T15:26:29.515" v="65" actId="14100"/>
      <pc:docMkLst>
        <pc:docMk/>
      </pc:docMkLst>
      <pc:sldChg chg="modSp mod">
        <pc:chgData name="GEETHIKA SUNIL" userId="9f9928bb1df66dfb" providerId="LiveId" clId="{8619BDDA-A768-4A6C-B886-D33A97557DE4}" dt="2026-03-05T11:16:59.618" v="57" actId="20577"/>
        <pc:sldMkLst>
          <pc:docMk/>
          <pc:sldMk cId="0" sldId="257"/>
        </pc:sldMkLst>
        <pc:spChg chg="mod">
          <ac:chgData name="GEETHIKA SUNIL" userId="9f9928bb1df66dfb" providerId="LiveId" clId="{8619BDDA-A768-4A6C-B886-D33A97557DE4}" dt="2026-03-05T11:16:59.618" v="57" actId="20577"/>
          <ac:spMkLst>
            <pc:docMk/>
            <pc:sldMk cId="0" sldId="257"/>
            <ac:spMk id="6" creationId="{00000000-0000-0000-0000-000000000000}"/>
          </ac:spMkLst>
        </pc:spChg>
        <pc:grpChg chg="mod">
          <ac:chgData name="GEETHIKA SUNIL" userId="9f9928bb1df66dfb" providerId="LiveId" clId="{8619BDDA-A768-4A6C-B886-D33A97557DE4}" dt="2026-03-05T11:16:57.973" v="54" actId="1036"/>
          <ac:grpSpMkLst>
            <pc:docMk/>
            <pc:sldMk cId="0" sldId="257"/>
            <ac:grpSpMk id="2" creationId="{00000000-0000-0000-0000-000000000000}"/>
          </ac:grpSpMkLst>
        </pc:grpChg>
      </pc:sldChg>
      <pc:sldChg chg="addSp delSp modSp mod">
        <pc:chgData name="GEETHIKA SUNIL" userId="9f9928bb1df66dfb" providerId="LiveId" clId="{8619BDDA-A768-4A6C-B886-D33A97557DE4}" dt="2026-03-05T10:50:21.072" v="6" actId="14100"/>
        <pc:sldMkLst>
          <pc:docMk/>
          <pc:sldMk cId="0" sldId="260"/>
        </pc:sldMkLst>
        <pc:grpChg chg="del">
          <ac:chgData name="GEETHIKA SUNIL" userId="9f9928bb1df66dfb" providerId="LiveId" clId="{8619BDDA-A768-4A6C-B886-D33A97557DE4}" dt="2026-03-05T10:49:42.792" v="0" actId="478"/>
          <ac:grpSpMkLst>
            <pc:docMk/>
            <pc:sldMk cId="0" sldId="260"/>
            <ac:grpSpMk id="6" creationId="{00000000-0000-0000-0000-000000000000}"/>
          </ac:grpSpMkLst>
        </pc:grpChg>
        <pc:picChg chg="add mod">
          <ac:chgData name="GEETHIKA SUNIL" userId="9f9928bb1df66dfb" providerId="LiveId" clId="{8619BDDA-A768-4A6C-B886-D33A97557DE4}" dt="2026-03-05T10:50:21.072" v="6" actId="14100"/>
          <ac:picMkLst>
            <pc:docMk/>
            <pc:sldMk cId="0" sldId="260"/>
            <ac:picMk id="11" creationId="{5F60683F-3C4E-8B2A-5D27-C78B7D518F14}"/>
          </ac:picMkLst>
        </pc:picChg>
      </pc:sldChg>
      <pc:sldChg chg="addSp delSp modSp mod">
        <pc:chgData name="GEETHIKA SUNIL" userId="9f9928bb1df66dfb" providerId="LiveId" clId="{8619BDDA-A768-4A6C-B886-D33A97557DE4}" dt="2026-03-05T15:26:29.515" v="65" actId="14100"/>
        <pc:sldMkLst>
          <pc:docMk/>
          <pc:sldMk cId="0" sldId="263"/>
        </pc:sldMkLst>
        <pc:picChg chg="add mod">
          <ac:chgData name="GEETHIKA SUNIL" userId="9f9928bb1df66dfb" providerId="LiveId" clId="{8619BDDA-A768-4A6C-B886-D33A97557DE4}" dt="2026-03-05T15:26:29.515" v="65" actId="14100"/>
          <ac:picMkLst>
            <pc:docMk/>
            <pc:sldMk cId="0" sldId="263"/>
            <ac:picMk id="7" creationId="{4316433C-7B37-EAE9-C4E2-9F3618DF9915}"/>
          </ac:picMkLst>
        </pc:picChg>
        <pc:picChg chg="del">
          <ac:chgData name="GEETHIKA SUNIL" userId="9f9928bb1df66dfb" providerId="LiveId" clId="{8619BDDA-A768-4A6C-B886-D33A97557DE4}" dt="2026-03-05T15:26:15.966" v="58" actId="478"/>
          <ac:picMkLst>
            <pc:docMk/>
            <pc:sldMk cId="0" sldId="263"/>
            <ac:picMk id="11" creationId="{773F328A-5424-79B6-60E3-DA3836A5ABD5}"/>
          </ac:picMkLst>
        </pc:picChg>
      </pc:sldChg>
      <pc:sldChg chg="addSp delSp modSp mod">
        <pc:chgData name="GEETHIKA SUNIL" userId="9f9928bb1df66dfb" providerId="LiveId" clId="{8619BDDA-A768-4A6C-B886-D33A97557DE4}" dt="2026-03-05T11:12:17.908" v="12" actId="14100"/>
        <pc:sldMkLst>
          <pc:docMk/>
          <pc:sldMk cId="0" sldId="268"/>
        </pc:sldMkLst>
        <pc:picChg chg="add mod">
          <ac:chgData name="GEETHIKA SUNIL" userId="9f9928bb1df66dfb" providerId="LiveId" clId="{8619BDDA-A768-4A6C-B886-D33A97557DE4}" dt="2026-03-05T11:12:17.908" v="12" actId="14100"/>
          <ac:picMkLst>
            <pc:docMk/>
            <pc:sldMk cId="0" sldId="268"/>
            <ac:picMk id="5" creationId="{E9B6B4F2-C78A-5062-76C6-364A71320E0A}"/>
          </ac:picMkLst>
        </pc:picChg>
        <pc:picChg chg="del">
          <ac:chgData name="GEETHIKA SUNIL" userId="9f9928bb1df66dfb" providerId="LiveId" clId="{8619BDDA-A768-4A6C-B886-D33A97557DE4}" dt="2026-03-05T11:11:50.373" v="7" actId="478"/>
          <ac:picMkLst>
            <pc:docMk/>
            <pc:sldMk cId="0" sldId="268"/>
            <ac:picMk id="9" creationId="{094DE61C-362E-E98C-8093-D608D51CBE45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3/5/2026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.png"/><Relationship Id="rId4" Type="http://schemas.openxmlformats.org/officeDocument/2006/relationships/image" Target="../media/image13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50000"/>
              </a:blip>
              <a:stretch>
                <a:fillRect t="-107971" b="-107971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12873218" y="428539"/>
            <a:ext cx="4123973" cy="2675020"/>
            <a:chOff x="0" y="0"/>
            <a:chExt cx="5498630" cy="3566693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498592" cy="3566668"/>
            </a:xfrm>
            <a:custGeom>
              <a:avLst/>
              <a:gdLst/>
              <a:ahLst/>
              <a:cxnLst/>
              <a:rect l="l" t="t" r="r" b="b"/>
              <a:pathLst>
                <a:path w="5498592" h="3566668">
                  <a:moveTo>
                    <a:pt x="0" y="0"/>
                  </a:moveTo>
                  <a:lnTo>
                    <a:pt x="5498592" y="0"/>
                  </a:lnTo>
                  <a:lnTo>
                    <a:pt x="5498592" y="3566668"/>
                  </a:lnTo>
                  <a:lnTo>
                    <a:pt x="0" y="35666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892" r="-1893"/>
              </a:stretch>
            </a:blipFill>
          </p:spPr>
        </p:sp>
      </p:grpSp>
      <p:sp>
        <p:nvSpPr>
          <p:cNvPr id="6" name="TextBox 6"/>
          <p:cNvSpPr txBox="1"/>
          <p:nvPr/>
        </p:nvSpPr>
        <p:spPr>
          <a:xfrm>
            <a:off x="337204" y="811673"/>
            <a:ext cx="9316374" cy="27368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299"/>
              </a:lnSpc>
            </a:pPr>
            <a:r>
              <a:rPr lang="en-US" sz="14499">
                <a:solidFill>
                  <a:srgbClr val="000000"/>
                </a:solidFill>
                <a:latin typeface="DM Serif Display"/>
                <a:ea typeface="DM Serif Display"/>
                <a:cs typeface="DM Serif Display"/>
                <a:sym typeface="DM Serif Display"/>
              </a:rPr>
              <a:t> ELECTVIZ  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224571" y="3243720"/>
            <a:ext cx="10757773" cy="8972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238"/>
              </a:lnSpc>
            </a:pPr>
            <a:r>
              <a:rPr lang="en-US" sz="3898" b="1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ELECTION DATA VISUALIZATION FOR MEDIA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7559013" y="5351695"/>
            <a:ext cx="6846662" cy="32888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13"/>
              </a:lnSpc>
            </a:pPr>
            <a:r>
              <a:rPr lang="en-US" sz="2758" b="1" u="sng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PRESENTED BY TEAM C</a:t>
            </a:r>
          </a:p>
          <a:p>
            <a:pPr algn="ctr">
              <a:lnSpc>
                <a:spcPts val="4413"/>
              </a:lnSpc>
            </a:pPr>
            <a:r>
              <a:rPr lang="en-US" sz="2758" b="1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GEETHIKA SUNIL</a:t>
            </a:r>
          </a:p>
          <a:p>
            <a:pPr algn="ctr">
              <a:lnSpc>
                <a:spcPts val="4413"/>
              </a:lnSpc>
            </a:pPr>
            <a:r>
              <a:rPr lang="en-US" sz="2758" b="1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JANHAVI SHARMA</a:t>
            </a:r>
          </a:p>
          <a:p>
            <a:pPr algn="ctr">
              <a:lnSpc>
                <a:spcPts val="4413"/>
              </a:lnSpc>
            </a:pPr>
            <a:r>
              <a:rPr lang="en-US" sz="2758" b="1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OMKAR DONGARE</a:t>
            </a:r>
          </a:p>
          <a:p>
            <a:pPr algn="ctr">
              <a:lnSpc>
                <a:spcPts val="4413"/>
              </a:lnSpc>
            </a:pPr>
            <a:r>
              <a:rPr lang="en-US" sz="2758" b="1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ASHUTOSH JHA</a:t>
            </a:r>
          </a:p>
          <a:p>
            <a:pPr algn="l">
              <a:lnSpc>
                <a:spcPts val="4413"/>
              </a:lnSpc>
            </a:pPr>
            <a:endParaRPr lang="en-US" sz="2758" b="1">
              <a:solidFill>
                <a:srgbClr val="000000"/>
              </a:solidFill>
              <a:latin typeface="Open Sauce Bold"/>
              <a:ea typeface="Open Sauce Bold"/>
              <a:cs typeface="Open Sauce Bold"/>
              <a:sym typeface="Open Sauce Bold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27041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50000"/>
              </a:blip>
              <a:stretch>
                <a:fillRect t="-1528" b="-6215"/>
              </a:stretch>
            </a:blipFill>
          </p:spPr>
          <p:txBody>
            <a:bodyPr/>
            <a:lstStyle/>
            <a:p>
              <a:endParaRPr lang="en-IN" dirty="0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4935200" y="81886"/>
            <a:ext cx="2900201" cy="1438361"/>
            <a:chOff x="0" y="0"/>
            <a:chExt cx="3866934" cy="191781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3866896" cy="1917827"/>
            </a:xfrm>
            <a:custGeom>
              <a:avLst/>
              <a:gdLst/>
              <a:ahLst/>
              <a:cxnLst/>
              <a:rect l="l" t="t" r="r" b="b"/>
              <a:pathLst>
                <a:path w="3866896" h="1917827">
                  <a:moveTo>
                    <a:pt x="0" y="0"/>
                  </a:moveTo>
                  <a:lnTo>
                    <a:pt x="3866896" y="0"/>
                  </a:lnTo>
                  <a:lnTo>
                    <a:pt x="3866896" y="1917827"/>
                  </a:lnTo>
                  <a:lnTo>
                    <a:pt x="0" y="19178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13009" b="-13009"/>
              </a:stretch>
            </a:blipFill>
          </p:spPr>
        </p:sp>
      </p:grpSp>
      <p:sp>
        <p:nvSpPr>
          <p:cNvPr id="6" name="TextBox 6"/>
          <p:cNvSpPr txBox="1"/>
          <p:nvPr/>
        </p:nvSpPr>
        <p:spPr>
          <a:xfrm>
            <a:off x="1043940" y="2205933"/>
            <a:ext cx="15341360" cy="59717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89538" lvl="1" indent="-194769" algn="l">
              <a:lnSpc>
                <a:spcPts val="3874"/>
              </a:lnSpc>
              <a:buFont typeface="Arial"/>
              <a:buChar char="•"/>
            </a:pPr>
            <a:r>
              <a:rPr lang="en-US" sz="3228" dirty="0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 Integrate multi-election historical datasets</a:t>
            </a:r>
          </a:p>
          <a:p>
            <a:pPr marL="389538" lvl="1" indent="-194769" algn="l">
              <a:lnSpc>
                <a:spcPts val="3874"/>
              </a:lnSpc>
            </a:pPr>
            <a:endParaRPr lang="en-US" sz="3228" dirty="0">
              <a:solidFill>
                <a:srgbClr val="000000"/>
              </a:solidFill>
              <a:latin typeface="Open Sauce Bold"/>
              <a:ea typeface="Open Sauce Bold"/>
              <a:cs typeface="Open Sauce Bold"/>
              <a:sym typeface="Open Sauce Bold"/>
            </a:endParaRPr>
          </a:p>
          <a:p>
            <a:pPr marL="389538" lvl="1" indent="-194769" algn="l">
              <a:lnSpc>
                <a:spcPts val="3874"/>
              </a:lnSpc>
              <a:buFont typeface="Arial"/>
              <a:buChar char="•"/>
            </a:pPr>
            <a:r>
              <a:rPr lang="en-US" sz="3228" dirty="0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Standardize and clean public election data</a:t>
            </a:r>
          </a:p>
          <a:p>
            <a:pPr marL="389538" lvl="1" indent="-194769" algn="l">
              <a:lnSpc>
                <a:spcPts val="3874"/>
              </a:lnSpc>
            </a:pPr>
            <a:endParaRPr lang="en-US" sz="3228" dirty="0">
              <a:solidFill>
                <a:srgbClr val="000000"/>
              </a:solidFill>
              <a:latin typeface="Open Sauce Bold"/>
              <a:ea typeface="Open Sauce Bold"/>
              <a:cs typeface="Open Sauce Bold"/>
              <a:sym typeface="Open Sauce Bold"/>
            </a:endParaRPr>
          </a:p>
          <a:p>
            <a:pPr marL="389538" lvl="1" indent="-194769" algn="l">
              <a:lnSpc>
                <a:spcPts val="3874"/>
              </a:lnSpc>
              <a:buFont typeface="Arial"/>
              <a:buChar char="•"/>
            </a:pPr>
            <a:r>
              <a:rPr lang="en-US" sz="3228" dirty="0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Design star schema data model</a:t>
            </a:r>
          </a:p>
          <a:p>
            <a:pPr marL="389538" lvl="1" indent="-194769" algn="l">
              <a:lnSpc>
                <a:spcPts val="3874"/>
              </a:lnSpc>
            </a:pPr>
            <a:endParaRPr lang="en-US" sz="3228" dirty="0">
              <a:solidFill>
                <a:srgbClr val="000000"/>
              </a:solidFill>
              <a:latin typeface="Open Sauce Bold"/>
              <a:ea typeface="Open Sauce Bold"/>
              <a:cs typeface="Open Sauce Bold"/>
              <a:sym typeface="Open Sauce Bold"/>
            </a:endParaRPr>
          </a:p>
          <a:p>
            <a:pPr marL="389538" lvl="1" indent="-194769" algn="l">
              <a:lnSpc>
                <a:spcPts val="3874"/>
              </a:lnSpc>
              <a:buFont typeface="Arial"/>
              <a:buChar char="•"/>
            </a:pPr>
            <a:r>
              <a:rPr lang="en-US" sz="3228" dirty="0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Develop interactive dashboards for media analysis</a:t>
            </a:r>
          </a:p>
          <a:p>
            <a:pPr marL="389538" lvl="1" indent="-194769" algn="l">
              <a:lnSpc>
                <a:spcPts val="3874"/>
              </a:lnSpc>
            </a:pPr>
            <a:endParaRPr lang="en-US" sz="3228" dirty="0">
              <a:solidFill>
                <a:srgbClr val="000000"/>
              </a:solidFill>
              <a:latin typeface="Open Sauce Bold"/>
              <a:ea typeface="Open Sauce Bold"/>
              <a:cs typeface="Open Sauce Bold"/>
              <a:sym typeface="Open Sauce Bold"/>
            </a:endParaRPr>
          </a:p>
          <a:p>
            <a:pPr marL="389538" lvl="1" indent="-194769" algn="l">
              <a:lnSpc>
                <a:spcPts val="3874"/>
              </a:lnSpc>
              <a:buFont typeface="Arial"/>
              <a:buChar char="•"/>
            </a:pPr>
            <a:r>
              <a:rPr lang="en-US" sz="3228" dirty="0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Enable real-time and historical election insights</a:t>
            </a:r>
          </a:p>
          <a:p>
            <a:pPr marL="389538" lvl="1" indent="-194769" algn="l">
              <a:lnSpc>
                <a:spcPts val="3874"/>
              </a:lnSpc>
            </a:pPr>
            <a:endParaRPr lang="en-US" sz="3228" dirty="0">
              <a:solidFill>
                <a:srgbClr val="000000"/>
              </a:solidFill>
              <a:latin typeface="Open Sauce Bold"/>
              <a:ea typeface="Open Sauce Bold"/>
              <a:cs typeface="Open Sauce Bold"/>
              <a:sym typeface="Open Sauce Bold"/>
            </a:endParaRPr>
          </a:p>
          <a:p>
            <a:pPr marL="389538" lvl="1" indent="-194769" algn="l">
              <a:lnSpc>
                <a:spcPts val="3874"/>
              </a:lnSpc>
              <a:buFont typeface="Arial"/>
              <a:buChar char="•"/>
            </a:pPr>
            <a:r>
              <a:rPr lang="en-US" sz="3228" dirty="0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Support data-driven reporting and broadcast visualization</a:t>
            </a:r>
          </a:p>
          <a:p>
            <a:pPr marL="389538" lvl="1" indent="-194769" algn="l">
              <a:lnSpc>
                <a:spcPts val="3874"/>
              </a:lnSpc>
            </a:pPr>
            <a:endParaRPr lang="en-US" sz="3228" dirty="0">
              <a:solidFill>
                <a:srgbClr val="000000"/>
              </a:solidFill>
              <a:latin typeface="Open Sauce Bold"/>
              <a:ea typeface="Open Sauce Bold"/>
              <a:cs typeface="Open Sauce Bold"/>
              <a:sym typeface="Open Sauce Bold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152400" y="348615"/>
            <a:ext cx="7543800" cy="6276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279"/>
              </a:lnSpc>
            </a:pPr>
            <a:r>
              <a:rPr lang="en-US" sz="4000" b="1" u="sng" dirty="0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PROJECT OBJECTIVE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2287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50000"/>
              </a:blip>
              <a:stretch>
                <a:fillRect l="-12622" r="-12622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15161504" y="103680"/>
            <a:ext cx="2900201" cy="1438361"/>
            <a:chOff x="0" y="0"/>
            <a:chExt cx="3866934" cy="191781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3866896" cy="1917827"/>
            </a:xfrm>
            <a:custGeom>
              <a:avLst/>
              <a:gdLst/>
              <a:ahLst/>
              <a:cxnLst/>
              <a:rect l="l" t="t" r="r" b="b"/>
              <a:pathLst>
                <a:path w="3866896" h="1917827">
                  <a:moveTo>
                    <a:pt x="0" y="0"/>
                  </a:moveTo>
                  <a:lnTo>
                    <a:pt x="3866896" y="0"/>
                  </a:lnTo>
                  <a:lnTo>
                    <a:pt x="3866896" y="1917827"/>
                  </a:lnTo>
                  <a:lnTo>
                    <a:pt x="0" y="19178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13009" b="-13009"/>
              </a:stretch>
            </a:blipFill>
          </p:spPr>
        </p:sp>
      </p:grpSp>
      <p:sp>
        <p:nvSpPr>
          <p:cNvPr id="6" name="TextBox 6"/>
          <p:cNvSpPr txBox="1"/>
          <p:nvPr/>
        </p:nvSpPr>
        <p:spPr>
          <a:xfrm>
            <a:off x="1615439" y="2567254"/>
            <a:ext cx="15643861" cy="477053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138"/>
              </a:lnSpc>
            </a:pPr>
            <a:r>
              <a:rPr lang="en-US" sz="2615" b="1" dirty="0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The system:</a:t>
            </a:r>
          </a:p>
          <a:p>
            <a:pPr algn="l">
              <a:lnSpc>
                <a:spcPts val="3138"/>
              </a:lnSpc>
            </a:pPr>
            <a:endParaRPr lang="en-US" sz="2615" b="1" dirty="0">
              <a:solidFill>
                <a:srgbClr val="000000"/>
              </a:solidFill>
              <a:latin typeface="Open Sauce Bold"/>
              <a:ea typeface="Open Sauce Bold"/>
              <a:cs typeface="Open Sauce Bold"/>
              <a:sym typeface="Open Sauce Bold"/>
            </a:endParaRPr>
          </a:p>
          <a:p>
            <a:pPr marL="315550" lvl="1" indent="-157775" algn="l">
              <a:lnSpc>
                <a:spcPts val="3138"/>
              </a:lnSpc>
              <a:buFont typeface="Arial"/>
              <a:buChar char="•"/>
            </a:pPr>
            <a:r>
              <a:rPr lang="en-US" sz="2615" b="1" dirty="0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Imports multi-year Lok Sabha and Vidhan Sabha datasets</a:t>
            </a:r>
          </a:p>
          <a:p>
            <a:pPr marL="315550" lvl="1" indent="-157775" algn="l">
              <a:lnSpc>
                <a:spcPts val="3138"/>
              </a:lnSpc>
            </a:pPr>
            <a:endParaRPr lang="en-US" sz="2615" b="1" dirty="0">
              <a:solidFill>
                <a:srgbClr val="000000"/>
              </a:solidFill>
              <a:latin typeface="Open Sauce Bold"/>
              <a:ea typeface="Open Sauce Bold"/>
              <a:cs typeface="Open Sauce Bold"/>
              <a:sym typeface="Open Sauce Bold"/>
            </a:endParaRPr>
          </a:p>
          <a:p>
            <a:pPr marL="315550" lvl="1" indent="-157775" algn="l">
              <a:lnSpc>
                <a:spcPts val="3138"/>
              </a:lnSpc>
              <a:buFont typeface="Arial"/>
              <a:buChar char="•"/>
            </a:pPr>
            <a:r>
              <a:rPr lang="en-US" sz="2615" b="1" dirty="0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Cleans and standardizes state, constituency, party, and candidate data</a:t>
            </a:r>
          </a:p>
          <a:p>
            <a:pPr marL="315550" lvl="1" indent="-157775" algn="l">
              <a:lnSpc>
                <a:spcPts val="3138"/>
              </a:lnSpc>
            </a:pPr>
            <a:endParaRPr lang="en-US" sz="2615" b="1" dirty="0">
              <a:solidFill>
                <a:srgbClr val="000000"/>
              </a:solidFill>
              <a:latin typeface="Open Sauce Bold"/>
              <a:ea typeface="Open Sauce Bold"/>
              <a:cs typeface="Open Sauce Bold"/>
              <a:sym typeface="Open Sauce Bold"/>
            </a:endParaRPr>
          </a:p>
          <a:p>
            <a:pPr marL="315550" lvl="1" indent="-157775" algn="l">
              <a:lnSpc>
                <a:spcPts val="3138"/>
              </a:lnSpc>
              <a:buFont typeface="Arial"/>
              <a:buChar char="•"/>
            </a:pPr>
            <a:r>
              <a:rPr lang="en-US" sz="2615" b="1" dirty="0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Creates interactive dashboards with filtering and drill-down</a:t>
            </a:r>
          </a:p>
          <a:p>
            <a:pPr marL="315550" lvl="1" indent="-157775" algn="l">
              <a:lnSpc>
                <a:spcPts val="3138"/>
              </a:lnSpc>
            </a:pPr>
            <a:endParaRPr lang="en-US" sz="2615" b="1" dirty="0">
              <a:solidFill>
                <a:srgbClr val="000000"/>
              </a:solidFill>
              <a:latin typeface="Open Sauce Bold"/>
              <a:ea typeface="Open Sauce Bold"/>
              <a:cs typeface="Open Sauce Bold"/>
              <a:sym typeface="Open Sauce Bold"/>
            </a:endParaRPr>
          </a:p>
          <a:p>
            <a:pPr marL="315550" lvl="1" indent="-157775" algn="l">
              <a:lnSpc>
                <a:spcPts val="3138"/>
              </a:lnSpc>
              <a:buFont typeface="Arial"/>
              <a:buChar char="•"/>
            </a:pPr>
            <a:r>
              <a:rPr lang="en-US" sz="2615" b="1" dirty="0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Simulates real-time election result updates</a:t>
            </a:r>
          </a:p>
          <a:p>
            <a:pPr marL="315550" lvl="1" indent="-157775" algn="l">
              <a:lnSpc>
                <a:spcPts val="3138"/>
              </a:lnSpc>
            </a:pPr>
            <a:endParaRPr lang="en-US" sz="2615" b="1" dirty="0">
              <a:solidFill>
                <a:srgbClr val="000000"/>
              </a:solidFill>
              <a:latin typeface="Open Sauce Bold"/>
              <a:ea typeface="Open Sauce Bold"/>
              <a:cs typeface="Open Sauce Bold"/>
              <a:sym typeface="Open Sauce Bold"/>
            </a:endParaRPr>
          </a:p>
          <a:p>
            <a:pPr marL="315550" lvl="1" indent="-157775" algn="l">
              <a:lnSpc>
                <a:spcPts val="3138"/>
              </a:lnSpc>
              <a:buFont typeface="Arial"/>
              <a:buChar char="•"/>
            </a:pPr>
            <a:r>
              <a:rPr lang="en-US" sz="2615" b="1" dirty="0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Enables visualization of vote share, turnout and  party performance.</a:t>
            </a:r>
          </a:p>
          <a:p>
            <a:pPr marL="315550" lvl="1" indent="-157775" algn="l">
              <a:lnSpc>
                <a:spcPts val="3138"/>
              </a:lnSpc>
            </a:pPr>
            <a:endParaRPr lang="en-US" sz="2615" b="1" dirty="0">
              <a:solidFill>
                <a:srgbClr val="000000"/>
              </a:solidFill>
              <a:latin typeface="Open Sauce Bold"/>
              <a:ea typeface="Open Sauce Bold"/>
              <a:cs typeface="Open Sauce Bold"/>
              <a:sym typeface="Open Sauce Bold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1615440" y="836295"/>
            <a:ext cx="6294120" cy="625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00"/>
              </a:lnSpc>
            </a:pPr>
            <a:r>
              <a:rPr lang="en-US" sz="4000" b="1" u="sng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PROJECT DESCRIPTION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9669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50000"/>
              </a:blip>
              <a:stretch>
                <a:fillRect l="-1358" r="-1358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15368140" y="266700"/>
            <a:ext cx="2900201" cy="1438361"/>
            <a:chOff x="0" y="0"/>
            <a:chExt cx="3866934" cy="191781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3866896" cy="1917827"/>
            </a:xfrm>
            <a:custGeom>
              <a:avLst/>
              <a:gdLst/>
              <a:ahLst/>
              <a:cxnLst/>
              <a:rect l="l" t="t" r="r" b="b"/>
              <a:pathLst>
                <a:path w="3866896" h="1917827">
                  <a:moveTo>
                    <a:pt x="0" y="0"/>
                  </a:moveTo>
                  <a:lnTo>
                    <a:pt x="3866896" y="0"/>
                  </a:lnTo>
                  <a:lnTo>
                    <a:pt x="3866896" y="1917827"/>
                  </a:lnTo>
                  <a:lnTo>
                    <a:pt x="0" y="19178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13009" b="-13009"/>
              </a:stretch>
            </a:blipFill>
          </p:spPr>
        </p:sp>
      </p:grpSp>
      <p:sp>
        <p:nvSpPr>
          <p:cNvPr id="6" name="TextBox 6"/>
          <p:cNvSpPr txBox="1"/>
          <p:nvPr/>
        </p:nvSpPr>
        <p:spPr>
          <a:xfrm>
            <a:off x="1028700" y="2068743"/>
            <a:ext cx="15041654" cy="49535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57977" lvl="1" indent="-178989" algn="l">
              <a:lnSpc>
                <a:spcPts val="3560"/>
              </a:lnSpc>
              <a:buFont typeface="Arial"/>
              <a:buChar char="•"/>
            </a:pPr>
            <a:r>
              <a:rPr lang="en-US" sz="2967" b="1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 Historical data from multiple elections imported and cleaned</a:t>
            </a:r>
          </a:p>
          <a:p>
            <a:pPr marL="357977" lvl="1" indent="-178989" algn="l">
              <a:lnSpc>
                <a:spcPts val="3560"/>
              </a:lnSpc>
            </a:pPr>
            <a:endParaRPr lang="en-US" sz="2967" b="1">
              <a:solidFill>
                <a:srgbClr val="000000"/>
              </a:solidFill>
              <a:latin typeface="Open Sauce Bold"/>
              <a:ea typeface="Open Sauce Bold"/>
              <a:cs typeface="Open Sauce Bold"/>
              <a:sym typeface="Open Sauce Bold"/>
            </a:endParaRPr>
          </a:p>
          <a:p>
            <a:pPr marL="357977" lvl="1" indent="-178989" algn="l">
              <a:lnSpc>
                <a:spcPts val="3560"/>
              </a:lnSpc>
              <a:buFont typeface="Arial"/>
              <a:buChar char="•"/>
            </a:pPr>
            <a:r>
              <a:rPr lang="en-US" sz="2967" b="1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Star schema created with valid relationships</a:t>
            </a:r>
          </a:p>
          <a:p>
            <a:pPr marL="357977" lvl="1" indent="-178989" algn="l">
              <a:lnSpc>
                <a:spcPts val="3560"/>
              </a:lnSpc>
            </a:pPr>
            <a:endParaRPr lang="en-US" sz="2967" b="1">
              <a:solidFill>
                <a:srgbClr val="000000"/>
              </a:solidFill>
              <a:latin typeface="Open Sauce Bold"/>
              <a:ea typeface="Open Sauce Bold"/>
              <a:cs typeface="Open Sauce Bold"/>
              <a:sym typeface="Open Sauce Bold"/>
            </a:endParaRPr>
          </a:p>
          <a:p>
            <a:pPr marL="842458" lvl="2" indent="-280819" algn="l">
              <a:lnSpc>
                <a:spcPts val="3560"/>
              </a:lnSpc>
              <a:buFont typeface="Arial"/>
              <a:buChar char="⚬"/>
            </a:pPr>
            <a:r>
              <a:rPr lang="en-US" sz="2967" b="1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Candidates</a:t>
            </a:r>
          </a:p>
          <a:p>
            <a:pPr marL="842458" lvl="2" indent="-280819" algn="l">
              <a:lnSpc>
                <a:spcPts val="3560"/>
              </a:lnSpc>
            </a:pPr>
            <a:endParaRPr lang="en-US" sz="2967" b="1">
              <a:solidFill>
                <a:srgbClr val="000000"/>
              </a:solidFill>
              <a:latin typeface="Open Sauce Bold"/>
              <a:ea typeface="Open Sauce Bold"/>
              <a:cs typeface="Open Sauce Bold"/>
              <a:sym typeface="Open Sauce Bold"/>
            </a:endParaRPr>
          </a:p>
          <a:p>
            <a:pPr marL="842458" lvl="2" indent="-280819" algn="l">
              <a:lnSpc>
                <a:spcPts val="3560"/>
              </a:lnSpc>
              <a:buFont typeface="Arial"/>
              <a:buChar char="⚬"/>
            </a:pPr>
            <a:r>
              <a:rPr lang="en-US" sz="2967" b="1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Votes</a:t>
            </a:r>
          </a:p>
          <a:p>
            <a:pPr marL="842458" lvl="2" indent="-280819" algn="l">
              <a:lnSpc>
                <a:spcPts val="3560"/>
              </a:lnSpc>
            </a:pPr>
            <a:endParaRPr lang="en-US" sz="2967" b="1">
              <a:solidFill>
                <a:srgbClr val="000000"/>
              </a:solidFill>
              <a:latin typeface="Open Sauce Bold"/>
              <a:ea typeface="Open Sauce Bold"/>
              <a:cs typeface="Open Sauce Bold"/>
              <a:sym typeface="Open Sauce Bold"/>
            </a:endParaRPr>
          </a:p>
          <a:p>
            <a:pPr marL="842458" lvl="2" indent="-280819" algn="l">
              <a:lnSpc>
                <a:spcPts val="3560"/>
              </a:lnSpc>
              <a:buFont typeface="Arial"/>
              <a:buChar char="⚬"/>
            </a:pPr>
            <a:r>
              <a:rPr lang="en-US" sz="2967" b="1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Constituencies</a:t>
            </a:r>
          </a:p>
          <a:p>
            <a:pPr marL="842458" lvl="2" indent="-280819" algn="l">
              <a:lnSpc>
                <a:spcPts val="3560"/>
              </a:lnSpc>
            </a:pPr>
            <a:endParaRPr lang="en-US" sz="2967" b="1">
              <a:solidFill>
                <a:srgbClr val="000000"/>
              </a:solidFill>
              <a:latin typeface="Open Sauce Bold"/>
              <a:ea typeface="Open Sauce Bold"/>
              <a:cs typeface="Open Sauce Bold"/>
              <a:sym typeface="Open Sauce Bold"/>
            </a:endParaRPr>
          </a:p>
          <a:p>
            <a:pPr marL="842458" lvl="2" indent="-280819" algn="l">
              <a:lnSpc>
                <a:spcPts val="3560"/>
              </a:lnSpc>
              <a:buFont typeface="Arial"/>
              <a:buChar char="⚬"/>
            </a:pPr>
            <a:r>
              <a:rPr lang="en-US" sz="2967" b="1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Parties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295400" y="133350"/>
            <a:ext cx="5257800" cy="14739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359"/>
              </a:lnSpc>
            </a:pPr>
            <a:r>
              <a:rPr lang="en-US" sz="4000" b="1" u="sng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MILESTONE 1 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50000"/>
              </a:blip>
              <a:stretch>
                <a:fillRect t="-20781" r="-12313" b="-28970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15365682" y="94726"/>
            <a:ext cx="2900201" cy="1438361"/>
            <a:chOff x="0" y="0"/>
            <a:chExt cx="3866934" cy="191781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3866896" cy="1917827"/>
            </a:xfrm>
            <a:custGeom>
              <a:avLst/>
              <a:gdLst/>
              <a:ahLst/>
              <a:cxnLst/>
              <a:rect l="l" t="t" r="r" b="b"/>
              <a:pathLst>
                <a:path w="3866896" h="1917827">
                  <a:moveTo>
                    <a:pt x="0" y="0"/>
                  </a:moveTo>
                  <a:lnTo>
                    <a:pt x="3866896" y="0"/>
                  </a:lnTo>
                  <a:lnTo>
                    <a:pt x="3866896" y="1917827"/>
                  </a:lnTo>
                  <a:lnTo>
                    <a:pt x="0" y="19178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13009" b="-13009"/>
              </a:stretch>
            </a:blipFill>
          </p:spPr>
        </p:sp>
      </p:grpSp>
      <p:sp>
        <p:nvSpPr>
          <p:cNvPr id="8" name="TextBox 8"/>
          <p:cNvSpPr txBox="1"/>
          <p:nvPr/>
        </p:nvSpPr>
        <p:spPr>
          <a:xfrm>
            <a:off x="-381000" y="1159793"/>
            <a:ext cx="12296680" cy="765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278"/>
              </a:lnSpc>
            </a:pPr>
            <a:r>
              <a:rPr lang="en-US" sz="3298" b="1" u="sng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HISTORICAL TRENDS DASHBOARD-LOKSABHA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929640" y="534562"/>
            <a:ext cx="6183506" cy="625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00"/>
              </a:lnSpc>
            </a:pPr>
            <a:r>
              <a:rPr lang="en-US" sz="4000" b="1" u="sng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MILESTONE 2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F60683F-3C4E-8B2A-5D27-C78B7D518F1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640" y="2095500"/>
            <a:ext cx="14081760" cy="726478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50000"/>
              </a:blip>
              <a:stretch>
                <a:fillRect t="-16666" b="-16666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15380427" y="75800"/>
            <a:ext cx="2900201" cy="1438361"/>
            <a:chOff x="0" y="0"/>
            <a:chExt cx="3866934" cy="191781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3866896" cy="1917827"/>
            </a:xfrm>
            <a:custGeom>
              <a:avLst/>
              <a:gdLst/>
              <a:ahLst/>
              <a:cxnLst/>
              <a:rect l="l" t="t" r="r" b="b"/>
              <a:pathLst>
                <a:path w="3866896" h="1917827">
                  <a:moveTo>
                    <a:pt x="0" y="0"/>
                  </a:moveTo>
                  <a:lnTo>
                    <a:pt x="3866896" y="0"/>
                  </a:lnTo>
                  <a:lnTo>
                    <a:pt x="3866896" y="1917827"/>
                  </a:lnTo>
                  <a:lnTo>
                    <a:pt x="0" y="19178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13009" b="-13009"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1066800" y="1104900"/>
            <a:ext cx="14293129" cy="8077200"/>
            <a:chOff x="0" y="0"/>
            <a:chExt cx="19057506" cy="107696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9057493" cy="10769600"/>
            </a:xfrm>
            <a:custGeom>
              <a:avLst/>
              <a:gdLst/>
              <a:ahLst/>
              <a:cxnLst/>
              <a:rect l="l" t="t" r="r" b="b"/>
              <a:pathLst>
                <a:path w="19057493" h="10769600">
                  <a:moveTo>
                    <a:pt x="0" y="0"/>
                  </a:moveTo>
                  <a:lnTo>
                    <a:pt x="19057493" y="0"/>
                  </a:lnTo>
                  <a:lnTo>
                    <a:pt x="19057493" y="10769600"/>
                  </a:lnTo>
                  <a:lnTo>
                    <a:pt x="0" y="10769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230" b="-230"/>
              </a:stretch>
            </a:blipFill>
          </p:spPr>
        </p:sp>
      </p:grpSp>
      <p:sp>
        <p:nvSpPr>
          <p:cNvPr id="8" name="TextBox 8"/>
          <p:cNvSpPr txBox="1"/>
          <p:nvPr/>
        </p:nvSpPr>
        <p:spPr>
          <a:xfrm>
            <a:off x="204349" y="-93193"/>
            <a:ext cx="11301851" cy="7403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278"/>
              </a:lnSpc>
            </a:pPr>
            <a:r>
              <a:rPr lang="en-US" sz="3298" b="1" u="sng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HISTORICAL TRENDS DASHBOARD-VIDHANSABHA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50000"/>
              </a:blip>
              <a:stretch>
                <a:fillRect t="-48" b="-48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15163800" y="35643"/>
            <a:ext cx="2900201" cy="1438361"/>
            <a:chOff x="0" y="0"/>
            <a:chExt cx="3866934" cy="191781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3866896" cy="1917827"/>
            </a:xfrm>
            <a:custGeom>
              <a:avLst/>
              <a:gdLst/>
              <a:ahLst/>
              <a:cxnLst/>
              <a:rect l="l" t="t" r="r" b="b"/>
              <a:pathLst>
                <a:path w="3866896" h="1917827">
                  <a:moveTo>
                    <a:pt x="0" y="0"/>
                  </a:moveTo>
                  <a:lnTo>
                    <a:pt x="3866896" y="0"/>
                  </a:lnTo>
                  <a:lnTo>
                    <a:pt x="3866896" y="1917827"/>
                  </a:lnTo>
                  <a:lnTo>
                    <a:pt x="0" y="19178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13009" b="-13009"/>
              </a:stretch>
            </a:blipFill>
          </p:spPr>
        </p:sp>
      </p:grpSp>
      <p:sp>
        <p:nvSpPr>
          <p:cNvPr id="6" name="TextBox 6"/>
          <p:cNvSpPr txBox="1"/>
          <p:nvPr/>
        </p:nvSpPr>
        <p:spPr>
          <a:xfrm>
            <a:off x="1593502" y="531495"/>
            <a:ext cx="11954857" cy="6259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800"/>
              </a:lnSpc>
            </a:pPr>
            <a:r>
              <a:rPr lang="en-US" sz="4000" b="1" u="sng" dirty="0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HISTORICAL TRENDS DASHBOARD 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593503" y="1464478"/>
            <a:ext cx="13991409" cy="5248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83840" lvl="1" indent="-191920" algn="l">
              <a:lnSpc>
                <a:spcPts val="3817"/>
              </a:lnSpc>
              <a:buFont typeface="Arial"/>
              <a:buChar char="•"/>
            </a:pPr>
            <a:r>
              <a:rPr lang="en-US" sz="3181" b="1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Vote Share Dashboard completed</a:t>
            </a:r>
          </a:p>
          <a:p>
            <a:pPr marL="383840" lvl="1" indent="-191920" algn="l">
              <a:lnSpc>
                <a:spcPts val="3817"/>
              </a:lnSpc>
            </a:pPr>
            <a:endParaRPr lang="en-US" sz="3181" b="1">
              <a:solidFill>
                <a:srgbClr val="000000"/>
              </a:solidFill>
              <a:latin typeface="Open Sauce Bold"/>
              <a:ea typeface="Open Sauce Bold"/>
              <a:cs typeface="Open Sauce Bold"/>
              <a:sym typeface="Open Sauce Bold"/>
            </a:endParaRPr>
          </a:p>
          <a:p>
            <a:pPr marL="383840" lvl="1" indent="-191920" algn="l">
              <a:lnSpc>
                <a:spcPts val="3817"/>
              </a:lnSpc>
              <a:buFont typeface="Arial"/>
              <a:buChar char="•"/>
            </a:pPr>
            <a:r>
              <a:rPr lang="en-US" sz="3181" b="1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Turnout Dashboard completed</a:t>
            </a:r>
          </a:p>
          <a:p>
            <a:pPr marL="383840" lvl="1" indent="-191920" algn="l">
              <a:lnSpc>
                <a:spcPts val="3817"/>
              </a:lnSpc>
            </a:pPr>
            <a:endParaRPr lang="en-US" sz="3181" b="1">
              <a:solidFill>
                <a:srgbClr val="000000"/>
              </a:solidFill>
              <a:latin typeface="Open Sauce Bold"/>
              <a:ea typeface="Open Sauce Bold"/>
              <a:cs typeface="Open Sauce Bold"/>
              <a:sym typeface="Open Sauce Bold"/>
            </a:endParaRPr>
          </a:p>
          <a:p>
            <a:pPr marL="383840" lvl="1" indent="-191920" algn="l">
              <a:lnSpc>
                <a:spcPts val="3817"/>
              </a:lnSpc>
              <a:buFont typeface="Arial"/>
              <a:buChar char="•"/>
            </a:pPr>
            <a:r>
              <a:rPr lang="en-US" sz="3181" b="1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Filter functionality enabled</a:t>
            </a:r>
          </a:p>
          <a:p>
            <a:pPr marL="383840" lvl="1" indent="-191920" algn="l">
              <a:lnSpc>
                <a:spcPts val="3817"/>
              </a:lnSpc>
            </a:pPr>
            <a:endParaRPr lang="en-US" sz="3181" b="1">
              <a:solidFill>
                <a:srgbClr val="000000"/>
              </a:solidFill>
              <a:latin typeface="Open Sauce Bold"/>
              <a:ea typeface="Open Sauce Bold"/>
              <a:cs typeface="Open Sauce Bold"/>
              <a:sym typeface="Open Sauce Bold"/>
            </a:endParaRPr>
          </a:p>
          <a:p>
            <a:pPr marL="903322" lvl="2" indent="-301107" algn="l">
              <a:lnSpc>
                <a:spcPts val="3817"/>
              </a:lnSpc>
              <a:buFont typeface="Arial"/>
              <a:buChar char="⚬"/>
            </a:pPr>
            <a:r>
              <a:rPr lang="en-US" sz="3181" b="1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     Year</a:t>
            </a:r>
          </a:p>
          <a:p>
            <a:pPr marL="903322" lvl="2" indent="-301107" algn="l">
              <a:lnSpc>
                <a:spcPts val="3817"/>
              </a:lnSpc>
            </a:pPr>
            <a:endParaRPr lang="en-US" sz="3181" b="1">
              <a:solidFill>
                <a:srgbClr val="000000"/>
              </a:solidFill>
              <a:latin typeface="Open Sauce Bold"/>
              <a:ea typeface="Open Sauce Bold"/>
              <a:cs typeface="Open Sauce Bold"/>
              <a:sym typeface="Open Sauce Bold"/>
            </a:endParaRPr>
          </a:p>
          <a:p>
            <a:pPr marL="903322" lvl="2" indent="-301107" algn="l">
              <a:lnSpc>
                <a:spcPts val="3817"/>
              </a:lnSpc>
              <a:buFont typeface="Arial"/>
              <a:buChar char="⚬"/>
            </a:pPr>
            <a:r>
              <a:rPr lang="en-US" sz="3181" b="1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     Party</a:t>
            </a:r>
          </a:p>
          <a:p>
            <a:pPr marL="903322" lvl="2" indent="-301107" algn="l">
              <a:lnSpc>
                <a:spcPts val="3817"/>
              </a:lnSpc>
            </a:pPr>
            <a:endParaRPr lang="en-US" sz="3181" b="1">
              <a:solidFill>
                <a:srgbClr val="000000"/>
              </a:solidFill>
              <a:latin typeface="Open Sauce Bold"/>
              <a:ea typeface="Open Sauce Bold"/>
              <a:cs typeface="Open Sauce Bold"/>
              <a:sym typeface="Open Sauce Bold"/>
            </a:endParaRPr>
          </a:p>
          <a:p>
            <a:pPr marL="903322" lvl="2" indent="-301107" algn="l">
              <a:lnSpc>
                <a:spcPts val="3817"/>
              </a:lnSpc>
              <a:buFont typeface="Arial"/>
              <a:buChar char="⚬"/>
            </a:pPr>
            <a:r>
              <a:rPr lang="en-US" sz="3181" b="1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     State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2697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50000"/>
              </a:blip>
              <a:stretch>
                <a:fillRect t="-16666" b="-16666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15163800" y="0"/>
            <a:ext cx="2900201" cy="1438361"/>
            <a:chOff x="0" y="0"/>
            <a:chExt cx="3866934" cy="191781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3866896" cy="1917827"/>
            </a:xfrm>
            <a:custGeom>
              <a:avLst/>
              <a:gdLst/>
              <a:ahLst/>
              <a:cxnLst/>
              <a:rect l="l" t="t" r="r" b="b"/>
              <a:pathLst>
                <a:path w="3866896" h="1917827">
                  <a:moveTo>
                    <a:pt x="0" y="0"/>
                  </a:moveTo>
                  <a:lnTo>
                    <a:pt x="3866896" y="0"/>
                  </a:lnTo>
                  <a:lnTo>
                    <a:pt x="3866896" y="1917827"/>
                  </a:lnTo>
                  <a:lnTo>
                    <a:pt x="0" y="19178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13009" b="-13009"/>
              </a:stretch>
            </a:blipFill>
          </p:spPr>
        </p:sp>
      </p:grpSp>
      <p:sp>
        <p:nvSpPr>
          <p:cNvPr id="8" name="TextBox 8"/>
          <p:cNvSpPr txBox="1"/>
          <p:nvPr/>
        </p:nvSpPr>
        <p:spPr>
          <a:xfrm>
            <a:off x="-838200" y="585826"/>
            <a:ext cx="11116570" cy="765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278"/>
              </a:lnSpc>
            </a:pPr>
            <a:r>
              <a:rPr lang="en-US" sz="3298" b="1" u="sng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REAL TIME RESULTS DASHBOARD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185415" y="181213"/>
            <a:ext cx="9113520" cy="625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00"/>
              </a:lnSpc>
            </a:pPr>
            <a:r>
              <a:rPr lang="en-US" sz="4000" b="1" u="sng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MILESTONE 3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316433C-7B37-EAE9-C4E2-9F3618DF99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6800" y="1619584"/>
            <a:ext cx="14706600" cy="748631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4762" y="-22127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50000"/>
              </a:blip>
              <a:stretch>
                <a:fillRect t="-53930" b="-23847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15240000" y="15973"/>
            <a:ext cx="2900201" cy="1438361"/>
            <a:chOff x="0" y="0"/>
            <a:chExt cx="3866934" cy="191781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3866896" cy="1917827"/>
            </a:xfrm>
            <a:custGeom>
              <a:avLst/>
              <a:gdLst/>
              <a:ahLst/>
              <a:cxnLst/>
              <a:rect l="l" t="t" r="r" b="b"/>
              <a:pathLst>
                <a:path w="3866896" h="1917827">
                  <a:moveTo>
                    <a:pt x="0" y="0"/>
                  </a:moveTo>
                  <a:lnTo>
                    <a:pt x="3866896" y="0"/>
                  </a:lnTo>
                  <a:lnTo>
                    <a:pt x="3866896" y="1917827"/>
                  </a:lnTo>
                  <a:lnTo>
                    <a:pt x="0" y="19178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13009" b="-13009"/>
              </a:stretch>
            </a:blipFill>
          </p:spPr>
        </p:sp>
      </p:grpSp>
      <p:sp>
        <p:nvSpPr>
          <p:cNvPr id="6" name="TextBox 6"/>
          <p:cNvSpPr txBox="1"/>
          <p:nvPr/>
        </p:nvSpPr>
        <p:spPr>
          <a:xfrm>
            <a:off x="1691640" y="1836420"/>
            <a:ext cx="12847320" cy="5514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34340" lvl="1" indent="-217170" algn="l">
              <a:lnSpc>
                <a:spcPts val="4320"/>
              </a:lnSpc>
              <a:buFont typeface="Arial"/>
              <a:buChar char="•"/>
            </a:pPr>
            <a:r>
              <a:rPr lang="en-US" sz="3600" dirty="0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Current leading party and seat distribution.</a:t>
            </a:r>
          </a:p>
          <a:p>
            <a:pPr marL="434340" lvl="1" indent="-217170" algn="l">
              <a:lnSpc>
                <a:spcPts val="4320"/>
              </a:lnSpc>
            </a:pPr>
            <a:endParaRPr lang="en-US" sz="3600" dirty="0">
              <a:solidFill>
                <a:srgbClr val="000000"/>
              </a:solidFill>
              <a:latin typeface="Open Sauce Bold"/>
              <a:ea typeface="Open Sauce Bold"/>
              <a:cs typeface="Open Sauce Bold"/>
              <a:sym typeface="Open Sauce Bold"/>
            </a:endParaRPr>
          </a:p>
          <a:p>
            <a:pPr marL="434340" lvl="1" indent="-217170" algn="l">
              <a:lnSpc>
                <a:spcPts val="4320"/>
              </a:lnSpc>
              <a:buFont typeface="Arial"/>
              <a:buChar char="•"/>
            </a:pPr>
            <a:r>
              <a:rPr lang="en-US" sz="3600" dirty="0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Narrow margins in competitive constituencies.</a:t>
            </a:r>
          </a:p>
          <a:p>
            <a:pPr marL="434340" lvl="1" indent="-217170" algn="l">
              <a:lnSpc>
                <a:spcPts val="4320"/>
              </a:lnSpc>
            </a:pPr>
            <a:endParaRPr lang="en-US" sz="3600" dirty="0">
              <a:solidFill>
                <a:srgbClr val="000000"/>
              </a:solidFill>
              <a:latin typeface="Open Sauce Bold"/>
              <a:ea typeface="Open Sauce Bold"/>
              <a:cs typeface="Open Sauce Bold"/>
              <a:sym typeface="Open Sauce Bold"/>
            </a:endParaRPr>
          </a:p>
          <a:p>
            <a:pPr marL="434340" lvl="1" indent="-217170" algn="l">
              <a:lnSpc>
                <a:spcPts val="4320"/>
              </a:lnSpc>
              <a:buFont typeface="Arial"/>
              <a:buChar char="•"/>
            </a:pPr>
            <a:r>
              <a:rPr lang="en-US" sz="3600" dirty="0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Regional dominance patterns.</a:t>
            </a:r>
          </a:p>
          <a:p>
            <a:pPr marL="434340" lvl="1" indent="-217170" algn="l">
              <a:lnSpc>
                <a:spcPts val="4320"/>
              </a:lnSpc>
            </a:pPr>
            <a:endParaRPr lang="en-US" sz="3600" dirty="0">
              <a:solidFill>
                <a:srgbClr val="000000"/>
              </a:solidFill>
              <a:latin typeface="Open Sauce Bold"/>
              <a:ea typeface="Open Sauce Bold"/>
              <a:cs typeface="Open Sauce Bold"/>
              <a:sym typeface="Open Sauce Bold"/>
            </a:endParaRPr>
          </a:p>
          <a:p>
            <a:pPr marL="434340" lvl="1" indent="-217170" algn="l">
              <a:lnSpc>
                <a:spcPts val="4320"/>
              </a:lnSpc>
              <a:buFont typeface="Arial"/>
              <a:buChar char="•"/>
            </a:pPr>
            <a:r>
              <a:rPr lang="en-US" sz="3600" dirty="0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Vote percentage gap between major parties.</a:t>
            </a:r>
          </a:p>
          <a:p>
            <a:pPr marL="434340" lvl="1" indent="-217170" algn="l">
              <a:lnSpc>
                <a:spcPts val="4320"/>
              </a:lnSpc>
            </a:pPr>
            <a:endParaRPr lang="en-US" sz="3600" dirty="0">
              <a:solidFill>
                <a:srgbClr val="000000"/>
              </a:solidFill>
              <a:latin typeface="Open Sauce Bold"/>
              <a:ea typeface="Open Sauce Bold"/>
              <a:cs typeface="Open Sauce Bold"/>
              <a:sym typeface="Open Sauce Bold"/>
            </a:endParaRPr>
          </a:p>
          <a:p>
            <a:pPr marL="434340" lvl="1" indent="-217170" algn="l">
              <a:lnSpc>
                <a:spcPts val="4320"/>
              </a:lnSpc>
              <a:buFont typeface="Arial"/>
              <a:buChar char="•"/>
            </a:pPr>
            <a:r>
              <a:rPr lang="en-US" sz="3600" dirty="0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Trend comparison with previous elections.</a:t>
            </a:r>
          </a:p>
          <a:p>
            <a:pPr marL="434340" lvl="1" indent="-217170" algn="l">
              <a:lnSpc>
                <a:spcPts val="4320"/>
              </a:lnSpc>
            </a:pPr>
            <a:endParaRPr lang="en-US" sz="3600" dirty="0">
              <a:solidFill>
                <a:srgbClr val="000000"/>
              </a:solidFill>
              <a:latin typeface="Open Sauce Bold"/>
              <a:ea typeface="Open Sauce Bold"/>
              <a:cs typeface="Open Sauce Bold"/>
              <a:sym typeface="Open Sauce Bold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1028700" y="201930"/>
            <a:ext cx="5295900" cy="6757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758"/>
              </a:lnSpc>
            </a:pPr>
            <a:r>
              <a:rPr lang="en-US" sz="3598" b="1" u="sng" dirty="0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KEY </a:t>
            </a:r>
            <a:r>
              <a:rPr lang="en-US" sz="4000" b="1" u="sng" dirty="0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INSIGHTS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-33185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50000"/>
              </a:blip>
              <a:stretch>
                <a:fillRect l="-12146" r="-353"/>
              </a:stretch>
            </a:blipFill>
          </p:spPr>
        </p:sp>
      </p:grpSp>
      <p:sp>
        <p:nvSpPr>
          <p:cNvPr id="4" name="TextBox 4"/>
          <p:cNvSpPr txBox="1"/>
          <p:nvPr/>
        </p:nvSpPr>
        <p:spPr>
          <a:xfrm>
            <a:off x="722928" y="2046608"/>
            <a:ext cx="16663387" cy="75203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62941" lvl="2" indent="-220980" algn="l">
              <a:lnSpc>
                <a:spcPts val="4640"/>
              </a:lnSpc>
              <a:buFont typeface="Arial"/>
              <a:buChar char="⚬"/>
            </a:pPr>
            <a:r>
              <a:rPr lang="en-US" sz="2900" b="1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Scope of Model: Analyze voter turnout patterns across states and demographics.</a:t>
            </a:r>
          </a:p>
          <a:p>
            <a:pPr marL="662941" lvl="2" indent="-220980" algn="l">
              <a:lnSpc>
                <a:spcPts val="4640"/>
              </a:lnSpc>
            </a:pPr>
            <a:endParaRPr lang="en-US" sz="2900" b="1">
              <a:solidFill>
                <a:srgbClr val="000000"/>
              </a:solidFill>
              <a:latin typeface="Open Sauce Bold"/>
              <a:ea typeface="Open Sauce Bold"/>
              <a:cs typeface="Open Sauce Bold"/>
              <a:sym typeface="Open Sauce Bold"/>
            </a:endParaRPr>
          </a:p>
          <a:p>
            <a:pPr marL="662941" lvl="2" indent="-220980" algn="l">
              <a:lnSpc>
                <a:spcPts val="4640"/>
              </a:lnSpc>
              <a:buFont typeface="Arial"/>
              <a:buChar char="⚬"/>
            </a:pPr>
            <a:r>
              <a:rPr lang="en-US" sz="2900" b="1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Objective: Understand how demographic factors influence voter participation.</a:t>
            </a:r>
          </a:p>
          <a:p>
            <a:pPr marL="662941" lvl="2" indent="-220980" algn="l">
              <a:lnSpc>
                <a:spcPts val="4640"/>
              </a:lnSpc>
            </a:pPr>
            <a:endParaRPr lang="en-US" sz="2900" b="1">
              <a:solidFill>
                <a:srgbClr val="000000"/>
              </a:solidFill>
              <a:latin typeface="Open Sauce Bold"/>
              <a:ea typeface="Open Sauce Bold"/>
              <a:cs typeface="Open Sauce Bold"/>
              <a:sym typeface="Open Sauce Bold"/>
            </a:endParaRPr>
          </a:p>
          <a:p>
            <a:pPr marL="662941" lvl="2" indent="-220980" algn="l">
              <a:lnSpc>
                <a:spcPts val="4640"/>
              </a:lnSpc>
              <a:buFont typeface="Arial"/>
              <a:buChar char="⚬"/>
            </a:pPr>
            <a:r>
              <a:rPr lang="en-US" sz="2900" b="1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Level of Analysis: State and constituency-level comparison with urban–rural segmentation</a:t>
            </a:r>
          </a:p>
          <a:p>
            <a:pPr marL="662941" lvl="2" indent="-220980" algn="l">
              <a:lnSpc>
                <a:spcPts val="4640"/>
              </a:lnSpc>
            </a:pPr>
            <a:r>
              <a:rPr lang="en-US" sz="2900" b="1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.</a:t>
            </a:r>
          </a:p>
          <a:p>
            <a:pPr marL="662941" lvl="2" indent="-220980" algn="l">
              <a:lnSpc>
                <a:spcPts val="4640"/>
              </a:lnSpc>
              <a:buFont typeface="Arial"/>
              <a:buChar char="⚬"/>
            </a:pPr>
            <a:r>
              <a:rPr lang="en-US" sz="2900" b="1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Key Features: Interactive filtering by year, state, gender, and region.</a:t>
            </a:r>
          </a:p>
          <a:p>
            <a:pPr marL="662941" lvl="2" indent="-220980" algn="l">
              <a:lnSpc>
                <a:spcPts val="4640"/>
              </a:lnSpc>
            </a:pPr>
            <a:endParaRPr lang="en-US" sz="2900" b="1">
              <a:solidFill>
                <a:srgbClr val="000000"/>
              </a:solidFill>
              <a:latin typeface="Open Sauce Bold"/>
              <a:ea typeface="Open Sauce Bold"/>
              <a:cs typeface="Open Sauce Bold"/>
              <a:sym typeface="Open Sauce Bold"/>
            </a:endParaRPr>
          </a:p>
          <a:p>
            <a:pPr marL="662941" lvl="2" indent="-220980" algn="l">
              <a:lnSpc>
                <a:spcPts val="4640"/>
              </a:lnSpc>
              <a:buFont typeface="Arial"/>
              <a:buChar char="⚬"/>
            </a:pPr>
            <a:r>
              <a:rPr lang="en-US" sz="2900" b="1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Visualization: Bar charts, pie charts, and heatmaps for turnout distribution.</a:t>
            </a:r>
          </a:p>
          <a:p>
            <a:pPr marL="662941" lvl="2" indent="-220980" algn="l">
              <a:lnSpc>
                <a:spcPts val="4640"/>
              </a:lnSpc>
            </a:pPr>
            <a:endParaRPr lang="en-US" sz="2900" b="1">
              <a:solidFill>
                <a:srgbClr val="000000"/>
              </a:solidFill>
              <a:latin typeface="Open Sauce Bold"/>
              <a:ea typeface="Open Sauce Bold"/>
              <a:cs typeface="Open Sauce Bold"/>
              <a:sym typeface="Open Sauce Bold"/>
            </a:endParaRPr>
          </a:p>
          <a:p>
            <a:pPr marL="662941" lvl="2" indent="-220980" algn="l">
              <a:lnSpc>
                <a:spcPts val="4640"/>
              </a:lnSpc>
              <a:buFont typeface="Arial"/>
              <a:buChar char="⚬"/>
            </a:pPr>
            <a:r>
              <a:rPr lang="en-US" sz="2900" b="1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Insights: Identifies regions and demographics with high or low voter engagement.</a:t>
            </a:r>
          </a:p>
          <a:p>
            <a:pPr marL="662941" lvl="2" indent="-220980" algn="l">
              <a:lnSpc>
                <a:spcPts val="4640"/>
              </a:lnSpc>
            </a:pPr>
            <a:endParaRPr lang="en-US" sz="2900" b="1">
              <a:solidFill>
                <a:srgbClr val="000000"/>
              </a:solidFill>
              <a:latin typeface="Open Sauce Bold"/>
              <a:ea typeface="Open Sauce Bold"/>
              <a:cs typeface="Open Sauce Bold"/>
              <a:sym typeface="Open Sauce Bold"/>
            </a:endParaRPr>
          </a:p>
        </p:txBody>
      </p:sp>
      <p:grpSp>
        <p:nvGrpSpPr>
          <p:cNvPr id="5" name="Group 5"/>
          <p:cNvGrpSpPr/>
          <p:nvPr/>
        </p:nvGrpSpPr>
        <p:grpSpPr>
          <a:xfrm>
            <a:off x="15240000" y="33185"/>
            <a:ext cx="2900201" cy="1438361"/>
            <a:chOff x="0" y="0"/>
            <a:chExt cx="3866934" cy="191781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3866896" cy="1917827"/>
            </a:xfrm>
            <a:custGeom>
              <a:avLst/>
              <a:gdLst/>
              <a:ahLst/>
              <a:cxnLst/>
              <a:rect l="l" t="t" r="r" b="b"/>
              <a:pathLst>
                <a:path w="3866896" h="1917827">
                  <a:moveTo>
                    <a:pt x="0" y="0"/>
                  </a:moveTo>
                  <a:lnTo>
                    <a:pt x="3866896" y="0"/>
                  </a:lnTo>
                  <a:lnTo>
                    <a:pt x="3866896" y="1917827"/>
                  </a:lnTo>
                  <a:lnTo>
                    <a:pt x="0" y="19178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13009" b="-13009"/>
              </a:stretch>
            </a:blipFill>
          </p:spPr>
        </p:sp>
      </p:grpSp>
      <p:sp>
        <p:nvSpPr>
          <p:cNvPr id="7" name="TextBox 7"/>
          <p:cNvSpPr txBox="1"/>
          <p:nvPr/>
        </p:nvSpPr>
        <p:spPr>
          <a:xfrm>
            <a:off x="381000" y="1059609"/>
            <a:ext cx="8421072" cy="7403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278"/>
              </a:lnSpc>
            </a:pPr>
            <a:r>
              <a:rPr lang="en-US" sz="3298" b="1" u="sng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Turnouts &amp; Demographic Analysis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158240" y="531495"/>
            <a:ext cx="8656320" cy="625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00"/>
              </a:lnSpc>
            </a:pPr>
            <a:r>
              <a:rPr lang="en-US" sz="4000" b="1" u="sng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MILESTONE 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50000"/>
              </a:blip>
              <a:stretch>
                <a:fillRect t="-16666" b="-16666"/>
              </a:stretch>
            </a:blipFill>
          </p:spPr>
        </p:sp>
      </p:grpSp>
      <p:sp>
        <p:nvSpPr>
          <p:cNvPr id="4" name="TextBox 4"/>
          <p:cNvSpPr txBox="1"/>
          <p:nvPr/>
        </p:nvSpPr>
        <p:spPr>
          <a:xfrm>
            <a:off x="13671128" y="9103995"/>
            <a:ext cx="3450479" cy="3117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38"/>
              </a:lnSpc>
            </a:pPr>
            <a:r>
              <a:rPr lang="en-US" sz="1599" spc="159">
                <a:solidFill>
                  <a:srgbClr val="000000">
                    <a:alpha val="49412"/>
                  </a:srgbClr>
                </a:solidFill>
                <a:latin typeface="Open Sauce"/>
                <a:ea typeface="Open Sauce"/>
                <a:cs typeface="Open Sauce"/>
                <a:sym typeface="Open Sauce"/>
              </a:rPr>
              <a:t>11</a:t>
            </a:r>
          </a:p>
        </p:txBody>
      </p:sp>
      <p:grpSp>
        <p:nvGrpSpPr>
          <p:cNvPr id="5" name="Group 5"/>
          <p:cNvGrpSpPr/>
          <p:nvPr/>
        </p:nvGrpSpPr>
        <p:grpSpPr>
          <a:xfrm>
            <a:off x="15163800" y="117548"/>
            <a:ext cx="2900201" cy="1438361"/>
            <a:chOff x="0" y="0"/>
            <a:chExt cx="3866934" cy="191781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3866896" cy="1917827"/>
            </a:xfrm>
            <a:custGeom>
              <a:avLst/>
              <a:gdLst/>
              <a:ahLst/>
              <a:cxnLst/>
              <a:rect l="l" t="t" r="r" b="b"/>
              <a:pathLst>
                <a:path w="3866896" h="1917827">
                  <a:moveTo>
                    <a:pt x="0" y="0"/>
                  </a:moveTo>
                  <a:lnTo>
                    <a:pt x="3866896" y="0"/>
                  </a:lnTo>
                  <a:lnTo>
                    <a:pt x="3866896" y="1917827"/>
                  </a:lnTo>
                  <a:lnTo>
                    <a:pt x="0" y="19178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13009" b="-13009"/>
              </a:stretch>
            </a:blipFill>
          </p:spPr>
        </p:sp>
      </p:grpSp>
      <p:grpSp>
        <p:nvGrpSpPr>
          <p:cNvPr id="7" name="Group 7"/>
          <p:cNvGrpSpPr/>
          <p:nvPr/>
        </p:nvGrpSpPr>
        <p:grpSpPr>
          <a:xfrm>
            <a:off x="1156564" y="1758039"/>
            <a:ext cx="15240000" cy="7848600"/>
            <a:chOff x="0" y="0"/>
            <a:chExt cx="20320000" cy="104648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0320000" cy="10464800"/>
            </a:xfrm>
            <a:custGeom>
              <a:avLst/>
              <a:gdLst/>
              <a:ahLst/>
              <a:cxnLst/>
              <a:rect l="l" t="t" r="r" b="b"/>
              <a:pathLst>
                <a:path w="20320000" h="10464800">
                  <a:moveTo>
                    <a:pt x="0" y="0"/>
                  </a:moveTo>
                  <a:lnTo>
                    <a:pt x="20320000" y="0"/>
                  </a:lnTo>
                  <a:lnTo>
                    <a:pt x="20320000" y="10464800"/>
                  </a:lnTo>
                  <a:lnTo>
                    <a:pt x="0" y="104648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sp>
        <p:nvSpPr>
          <p:cNvPr id="9" name="TextBox 9"/>
          <p:cNvSpPr txBox="1"/>
          <p:nvPr/>
        </p:nvSpPr>
        <p:spPr>
          <a:xfrm>
            <a:off x="790108" y="42977"/>
            <a:ext cx="7820492" cy="7937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8"/>
              </a:lnSpc>
            </a:pPr>
            <a:r>
              <a:rPr lang="en-US" sz="3499" b="1" u="sng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DEMOGRAPHICS DASHBOARD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DBAEA64-5E67-9C58-DD3D-9FAF313416D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6564" y="1758039"/>
            <a:ext cx="15240000" cy="78486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50000"/>
              </a:blip>
              <a:stretch>
                <a:fillRect t="-20258" b="-6378"/>
              </a:stretch>
            </a:blipFill>
          </p:spPr>
        </p:sp>
      </p:grpSp>
      <p:sp>
        <p:nvSpPr>
          <p:cNvPr id="4" name="TextBox 4"/>
          <p:cNvSpPr txBox="1"/>
          <p:nvPr/>
        </p:nvSpPr>
        <p:spPr>
          <a:xfrm>
            <a:off x="685800" y="1601776"/>
            <a:ext cx="13987318" cy="59623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664972" lvl="2" indent="-221657" algn="l">
              <a:lnSpc>
                <a:spcPts val="4654"/>
              </a:lnSpc>
              <a:buFont typeface="Arial"/>
              <a:buChar char="⚬"/>
            </a:pPr>
            <a:r>
              <a:rPr lang="en-US" sz="2908" b="1" dirty="0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Analyzes party-wise seat share and vote percentage across elections</a:t>
            </a:r>
          </a:p>
          <a:p>
            <a:pPr marL="664972" lvl="2" indent="-221657" algn="l">
              <a:lnSpc>
                <a:spcPts val="4654"/>
              </a:lnSpc>
            </a:pPr>
            <a:endParaRPr lang="en-US" sz="2908" b="1" dirty="0">
              <a:solidFill>
                <a:srgbClr val="000000"/>
              </a:solidFill>
              <a:latin typeface="Open Sauce Bold"/>
              <a:ea typeface="Open Sauce Bold"/>
              <a:cs typeface="Open Sauce Bold"/>
              <a:sym typeface="Open Sauce Bold"/>
            </a:endParaRPr>
          </a:p>
          <a:p>
            <a:pPr marL="664972" lvl="2" indent="-221657" algn="l">
              <a:lnSpc>
                <a:spcPts val="4654"/>
              </a:lnSpc>
              <a:buFont typeface="Arial"/>
              <a:buChar char="⚬"/>
            </a:pPr>
            <a:r>
              <a:rPr lang="en-US" sz="2908" b="1" dirty="0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Compares performance of different parties over multiple years</a:t>
            </a:r>
          </a:p>
          <a:p>
            <a:pPr marL="664972" lvl="2" indent="-221657" algn="l">
              <a:lnSpc>
                <a:spcPts val="4654"/>
              </a:lnSpc>
            </a:pPr>
            <a:endParaRPr lang="en-US" sz="2908" b="1" dirty="0">
              <a:solidFill>
                <a:srgbClr val="000000"/>
              </a:solidFill>
              <a:latin typeface="Open Sauce Bold"/>
              <a:ea typeface="Open Sauce Bold"/>
              <a:cs typeface="Open Sauce Bold"/>
              <a:sym typeface="Open Sauce Bold"/>
            </a:endParaRPr>
          </a:p>
          <a:p>
            <a:pPr marL="664972" lvl="2" indent="-221657" algn="l">
              <a:lnSpc>
                <a:spcPts val="4654"/>
              </a:lnSpc>
              <a:buFont typeface="Arial"/>
              <a:buChar char="⚬"/>
            </a:pPr>
            <a:r>
              <a:rPr lang="en-US" sz="2908" b="1" dirty="0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Evaluates candidate win/loss margins and re-election trends</a:t>
            </a:r>
          </a:p>
          <a:p>
            <a:pPr marL="664972" lvl="2" indent="-221657" algn="l">
              <a:lnSpc>
                <a:spcPts val="4654"/>
              </a:lnSpc>
            </a:pPr>
            <a:endParaRPr lang="en-US" sz="2908" b="1" dirty="0">
              <a:solidFill>
                <a:srgbClr val="000000"/>
              </a:solidFill>
              <a:latin typeface="Open Sauce Bold"/>
              <a:ea typeface="Open Sauce Bold"/>
              <a:cs typeface="Open Sauce Bold"/>
              <a:sym typeface="Open Sauce Bold"/>
            </a:endParaRPr>
          </a:p>
          <a:p>
            <a:pPr marL="664972" lvl="2" indent="-221657" algn="l">
              <a:lnSpc>
                <a:spcPts val="4654"/>
              </a:lnSpc>
              <a:buFont typeface="Arial"/>
              <a:buChar char="⚬"/>
            </a:pPr>
            <a:r>
              <a:rPr lang="en-US" sz="2908" b="1" dirty="0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Identifies top-performing candidates and competitive constituencies</a:t>
            </a:r>
          </a:p>
          <a:p>
            <a:pPr marL="664972" lvl="2" indent="-221657" algn="l">
              <a:lnSpc>
                <a:spcPts val="4654"/>
              </a:lnSpc>
            </a:pPr>
            <a:endParaRPr lang="en-US" sz="2908" b="1" dirty="0">
              <a:solidFill>
                <a:srgbClr val="000000"/>
              </a:solidFill>
              <a:latin typeface="Open Sauce Bold"/>
              <a:ea typeface="Open Sauce Bold"/>
              <a:cs typeface="Open Sauce Bold"/>
              <a:sym typeface="Open Sauce Bold"/>
            </a:endParaRPr>
          </a:p>
          <a:p>
            <a:pPr marL="664972" lvl="2" indent="-221657" algn="l">
              <a:lnSpc>
                <a:spcPts val="4654"/>
              </a:lnSpc>
              <a:buFont typeface="Arial"/>
              <a:buChar char="⚬"/>
            </a:pPr>
            <a:r>
              <a:rPr lang="en-US" sz="2908" b="1" dirty="0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Provides drill-down analysis at state and constituency levels</a:t>
            </a:r>
          </a:p>
          <a:p>
            <a:pPr marL="664972" lvl="2" indent="-221657" algn="ctr">
              <a:lnSpc>
                <a:spcPts val="4654"/>
              </a:lnSpc>
            </a:pPr>
            <a:endParaRPr lang="en-US" sz="2908" b="1" dirty="0">
              <a:solidFill>
                <a:srgbClr val="000000"/>
              </a:solidFill>
              <a:latin typeface="Open Sauce Bold"/>
              <a:ea typeface="Open Sauce Bold"/>
              <a:cs typeface="Open Sauce Bold"/>
              <a:sym typeface="Open Sauce Bold"/>
            </a:endParaRPr>
          </a:p>
        </p:txBody>
      </p:sp>
      <p:grpSp>
        <p:nvGrpSpPr>
          <p:cNvPr id="5" name="Group 5"/>
          <p:cNvGrpSpPr/>
          <p:nvPr/>
        </p:nvGrpSpPr>
        <p:grpSpPr>
          <a:xfrm>
            <a:off x="15240000" y="126911"/>
            <a:ext cx="2900201" cy="1438361"/>
            <a:chOff x="0" y="0"/>
            <a:chExt cx="3866934" cy="191781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3866896" cy="1917827"/>
            </a:xfrm>
            <a:custGeom>
              <a:avLst/>
              <a:gdLst/>
              <a:ahLst/>
              <a:cxnLst/>
              <a:rect l="l" t="t" r="r" b="b"/>
              <a:pathLst>
                <a:path w="3866896" h="1917827">
                  <a:moveTo>
                    <a:pt x="0" y="0"/>
                  </a:moveTo>
                  <a:lnTo>
                    <a:pt x="3866896" y="0"/>
                  </a:lnTo>
                  <a:lnTo>
                    <a:pt x="3866896" y="1917827"/>
                  </a:lnTo>
                  <a:lnTo>
                    <a:pt x="0" y="19178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13009" b="-13009"/>
              </a:stretch>
            </a:blipFill>
          </p:spPr>
        </p:sp>
      </p:grpSp>
      <p:sp>
        <p:nvSpPr>
          <p:cNvPr id="7" name="TextBox 7"/>
          <p:cNvSpPr txBox="1"/>
          <p:nvPr/>
        </p:nvSpPr>
        <p:spPr>
          <a:xfrm>
            <a:off x="0" y="771515"/>
            <a:ext cx="13542635" cy="6417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8"/>
              </a:lnSpc>
            </a:pPr>
            <a:r>
              <a:rPr lang="en-US" sz="3499" b="1" u="sng" dirty="0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PARTY AND CANDIDATE PERFORMANCE ANALYSIS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082040" y="305267"/>
            <a:ext cx="11094720" cy="625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00"/>
              </a:lnSpc>
            </a:pPr>
            <a:r>
              <a:rPr lang="en-US" sz="4000" b="1" u="sng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MILESTONE 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50000"/>
              </a:blip>
              <a:stretch>
                <a:fillRect t="-16666" b="-16666"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15387799" y="309520"/>
            <a:ext cx="2900201" cy="1438361"/>
            <a:chOff x="0" y="0"/>
            <a:chExt cx="3866934" cy="1917814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3866896" cy="1917827"/>
            </a:xfrm>
            <a:custGeom>
              <a:avLst/>
              <a:gdLst/>
              <a:ahLst/>
              <a:cxnLst/>
              <a:rect l="l" t="t" r="r" b="b"/>
              <a:pathLst>
                <a:path w="3866896" h="1917827">
                  <a:moveTo>
                    <a:pt x="0" y="0"/>
                  </a:moveTo>
                  <a:lnTo>
                    <a:pt x="3866896" y="0"/>
                  </a:lnTo>
                  <a:lnTo>
                    <a:pt x="3866896" y="1917827"/>
                  </a:lnTo>
                  <a:lnTo>
                    <a:pt x="0" y="19178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13009" b="-13009"/>
              </a:stretch>
            </a:blipFill>
          </p:spPr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E9B6B4F2-C78A-5062-76C6-364A71320E0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1200" y="1028700"/>
            <a:ext cx="13182600" cy="81534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50000"/>
              </a:blip>
              <a:stretch>
                <a:fillRect t="-30920" b="-8512"/>
              </a:stretch>
            </a:blipFill>
          </p:spPr>
        </p:sp>
      </p:grpSp>
      <p:sp>
        <p:nvSpPr>
          <p:cNvPr id="4" name="TextBox 4"/>
          <p:cNvSpPr txBox="1"/>
          <p:nvPr/>
        </p:nvSpPr>
        <p:spPr>
          <a:xfrm>
            <a:off x="1082040" y="1607820"/>
            <a:ext cx="13761720" cy="66719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endParaRPr dirty="0"/>
          </a:p>
          <a:p>
            <a:pPr algn="l">
              <a:lnSpc>
                <a:spcPts val="2879"/>
              </a:lnSpc>
            </a:pPr>
            <a:r>
              <a:rPr lang="en-US" sz="2400" b="1" dirty="0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 The project execution included:</a:t>
            </a:r>
          </a:p>
          <a:p>
            <a:pPr algn="l">
              <a:lnSpc>
                <a:spcPts val="2879"/>
              </a:lnSpc>
            </a:pPr>
            <a:endParaRPr lang="en-US" sz="2400" b="1" dirty="0">
              <a:solidFill>
                <a:srgbClr val="000000"/>
              </a:solidFill>
              <a:latin typeface="Open Sauce Bold"/>
              <a:ea typeface="Open Sauce Bold"/>
              <a:cs typeface="Open Sauce Bold"/>
              <a:sym typeface="Open Sauce Bold"/>
            </a:endParaRPr>
          </a:p>
          <a:p>
            <a:pPr marL="289560" lvl="1" indent="-144780" algn="l">
              <a:lnSpc>
                <a:spcPts val="2879"/>
              </a:lnSpc>
              <a:buFont typeface="Arial"/>
              <a:buChar char="•"/>
            </a:pPr>
            <a:r>
              <a:rPr lang="en-US" sz="2400" b="1" dirty="0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Multi-source election dataset integration</a:t>
            </a:r>
          </a:p>
          <a:p>
            <a:pPr marL="289560" lvl="1" indent="-144780" algn="l">
              <a:lnSpc>
                <a:spcPts val="2879"/>
              </a:lnSpc>
            </a:pPr>
            <a:endParaRPr lang="en-US" sz="2400" b="1" dirty="0">
              <a:solidFill>
                <a:srgbClr val="000000"/>
              </a:solidFill>
              <a:latin typeface="Open Sauce Bold"/>
              <a:ea typeface="Open Sauce Bold"/>
              <a:cs typeface="Open Sauce Bold"/>
              <a:sym typeface="Open Sauce Bold"/>
            </a:endParaRPr>
          </a:p>
          <a:p>
            <a:pPr marL="289560" lvl="1" indent="-144780" algn="l">
              <a:lnSpc>
                <a:spcPts val="2879"/>
              </a:lnSpc>
              <a:buFont typeface="Arial"/>
              <a:buChar char="•"/>
            </a:pPr>
            <a:r>
              <a:rPr lang="en-US" sz="2400" b="1" dirty="0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Data cleaning and transformation using Power Query</a:t>
            </a:r>
          </a:p>
          <a:p>
            <a:pPr marL="289560" lvl="1" indent="-144780" algn="l">
              <a:lnSpc>
                <a:spcPts val="2879"/>
              </a:lnSpc>
            </a:pPr>
            <a:endParaRPr lang="en-US" sz="2400" b="1" dirty="0">
              <a:solidFill>
                <a:srgbClr val="000000"/>
              </a:solidFill>
              <a:latin typeface="Open Sauce Bold"/>
              <a:ea typeface="Open Sauce Bold"/>
              <a:cs typeface="Open Sauce Bold"/>
              <a:sym typeface="Open Sauce Bold"/>
            </a:endParaRPr>
          </a:p>
          <a:p>
            <a:pPr marL="289560" lvl="1" indent="-144780" algn="l">
              <a:lnSpc>
                <a:spcPts val="2879"/>
              </a:lnSpc>
              <a:buFont typeface="Arial"/>
              <a:buChar char="•"/>
            </a:pPr>
            <a:r>
              <a:rPr lang="en-US" sz="2400" b="1" dirty="0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DAX measures for:</a:t>
            </a:r>
          </a:p>
          <a:p>
            <a:pPr marL="289560" lvl="1" indent="-144780" algn="l">
              <a:lnSpc>
                <a:spcPts val="2879"/>
              </a:lnSpc>
            </a:pPr>
            <a:endParaRPr lang="en-US" sz="2400" b="1" dirty="0">
              <a:solidFill>
                <a:srgbClr val="000000"/>
              </a:solidFill>
              <a:latin typeface="Open Sauce Bold"/>
              <a:ea typeface="Open Sauce Bold"/>
              <a:cs typeface="Open Sauce Bold"/>
              <a:sym typeface="Open Sauce Bold"/>
            </a:endParaRPr>
          </a:p>
          <a:p>
            <a:pPr marL="746760" lvl="2" indent="-248920" algn="l">
              <a:lnSpc>
                <a:spcPts val="2879"/>
              </a:lnSpc>
              <a:buFont typeface="Arial"/>
              <a:buChar char="⚬"/>
            </a:pPr>
            <a:r>
              <a:rPr lang="en-US" sz="2400" b="1" dirty="0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 Vote %</a:t>
            </a:r>
          </a:p>
          <a:p>
            <a:pPr marL="746760" lvl="2" indent="-248920" algn="l">
              <a:lnSpc>
                <a:spcPts val="2879"/>
              </a:lnSpc>
            </a:pPr>
            <a:endParaRPr lang="en-US" sz="2400" b="1" dirty="0">
              <a:solidFill>
                <a:srgbClr val="000000"/>
              </a:solidFill>
              <a:latin typeface="Open Sauce Bold"/>
              <a:ea typeface="Open Sauce Bold"/>
              <a:cs typeface="Open Sauce Bold"/>
              <a:sym typeface="Open Sauce Bold"/>
            </a:endParaRPr>
          </a:p>
          <a:p>
            <a:pPr marL="746760" lvl="2" indent="-248920" algn="l">
              <a:lnSpc>
                <a:spcPts val="2879"/>
              </a:lnSpc>
              <a:buFont typeface="Arial"/>
              <a:buChar char="⚬"/>
            </a:pPr>
            <a:r>
              <a:rPr lang="en-US" sz="2400" b="1" dirty="0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Seat Share</a:t>
            </a:r>
          </a:p>
          <a:p>
            <a:pPr marL="746760" lvl="2" indent="-248920" algn="l">
              <a:lnSpc>
                <a:spcPts val="2879"/>
              </a:lnSpc>
            </a:pPr>
            <a:endParaRPr lang="en-US" sz="2400" b="1" dirty="0">
              <a:solidFill>
                <a:srgbClr val="000000"/>
              </a:solidFill>
              <a:latin typeface="Open Sauce Bold"/>
              <a:ea typeface="Open Sauce Bold"/>
              <a:cs typeface="Open Sauce Bold"/>
              <a:sym typeface="Open Sauce Bold"/>
            </a:endParaRPr>
          </a:p>
          <a:p>
            <a:pPr marL="746760" lvl="2" indent="-248920" algn="l">
              <a:lnSpc>
                <a:spcPts val="2879"/>
              </a:lnSpc>
              <a:buFont typeface="Arial"/>
              <a:buChar char="⚬"/>
            </a:pPr>
            <a:r>
              <a:rPr lang="en-US" sz="2400" b="1" dirty="0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Turnout %</a:t>
            </a:r>
          </a:p>
          <a:p>
            <a:pPr marL="746760" lvl="2" indent="-248920" algn="l">
              <a:lnSpc>
                <a:spcPts val="2879"/>
              </a:lnSpc>
            </a:pPr>
            <a:endParaRPr lang="en-US" sz="2400" b="1" dirty="0">
              <a:solidFill>
                <a:srgbClr val="000000"/>
              </a:solidFill>
              <a:latin typeface="Open Sauce Bold"/>
              <a:ea typeface="Open Sauce Bold"/>
              <a:cs typeface="Open Sauce Bold"/>
              <a:sym typeface="Open Sauce Bold"/>
            </a:endParaRPr>
          </a:p>
          <a:p>
            <a:pPr marL="289560" lvl="1" indent="-144780" algn="l">
              <a:lnSpc>
                <a:spcPts val="2879"/>
              </a:lnSpc>
              <a:buFont typeface="Arial"/>
              <a:buChar char="•"/>
            </a:pPr>
            <a:r>
              <a:rPr lang="en-US" sz="2400" b="1" dirty="0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Dashboard development in Power BI</a:t>
            </a:r>
          </a:p>
          <a:p>
            <a:pPr marL="289560" lvl="1" indent="-144780" algn="l">
              <a:lnSpc>
                <a:spcPts val="2879"/>
              </a:lnSpc>
            </a:pPr>
            <a:endParaRPr lang="en-US" sz="2400" b="1" dirty="0">
              <a:solidFill>
                <a:srgbClr val="000000"/>
              </a:solidFill>
              <a:latin typeface="Open Sauce Bold"/>
              <a:ea typeface="Open Sauce Bold"/>
              <a:cs typeface="Open Sauce Bold"/>
              <a:sym typeface="Open Sauce Bold"/>
            </a:endParaRPr>
          </a:p>
          <a:p>
            <a:pPr marL="289560" lvl="1" indent="-144780" algn="l">
              <a:lnSpc>
                <a:spcPts val="2879"/>
              </a:lnSpc>
              <a:buFont typeface="Arial"/>
              <a:buChar char="•"/>
            </a:pPr>
            <a:r>
              <a:rPr lang="en-US" sz="2400" b="1" dirty="0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Interactive filtering and drill-through configuration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082040" y="531495"/>
            <a:ext cx="7970520" cy="625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00"/>
              </a:lnSpc>
            </a:pPr>
            <a:r>
              <a:rPr lang="en-US" sz="4000" b="1" u="sng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PROJECT EXECUTION DETAILS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15392400" y="153629"/>
            <a:ext cx="2900201" cy="1438361"/>
            <a:chOff x="0" y="0"/>
            <a:chExt cx="3866934" cy="1917814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3866896" cy="1917827"/>
            </a:xfrm>
            <a:custGeom>
              <a:avLst/>
              <a:gdLst/>
              <a:ahLst/>
              <a:cxnLst/>
              <a:rect l="l" t="t" r="r" b="b"/>
              <a:pathLst>
                <a:path w="3866896" h="1917827">
                  <a:moveTo>
                    <a:pt x="0" y="0"/>
                  </a:moveTo>
                  <a:lnTo>
                    <a:pt x="3866896" y="0"/>
                  </a:lnTo>
                  <a:lnTo>
                    <a:pt x="3866896" y="1917827"/>
                  </a:lnTo>
                  <a:lnTo>
                    <a:pt x="0" y="19178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13009" b="-13009"/>
              </a:stretch>
            </a:blipFill>
          </p:spPr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50000"/>
              </a:blip>
              <a:stretch>
                <a:fillRect t="-3872" b="-3872"/>
              </a:stretch>
            </a:blipFill>
          </p:spPr>
        </p:sp>
      </p:grpSp>
      <p:sp>
        <p:nvSpPr>
          <p:cNvPr id="4" name="TextBox 4"/>
          <p:cNvSpPr txBox="1"/>
          <p:nvPr/>
        </p:nvSpPr>
        <p:spPr>
          <a:xfrm>
            <a:off x="1463040" y="683895"/>
            <a:ext cx="6598920" cy="625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00"/>
              </a:lnSpc>
            </a:pPr>
            <a:r>
              <a:rPr lang="en-US" sz="4000" b="1" u="sng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CHALLENGES FACED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219200" y="2120148"/>
            <a:ext cx="12526340" cy="474488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719"/>
              </a:lnSpc>
            </a:pPr>
            <a:endParaRPr sz="3200" dirty="0"/>
          </a:p>
          <a:p>
            <a:pPr marL="373986" lvl="1" indent="-186993" algn="l">
              <a:lnSpc>
                <a:spcPts val="3719"/>
              </a:lnSpc>
              <a:buFont typeface="Arial"/>
              <a:buChar char="•"/>
            </a:pPr>
            <a:r>
              <a:rPr lang="en-US" sz="3200" b="1" dirty="0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Inconsistent state-wise dataset formats</a:t>
            </a:r>
          </a:p>
          <a:p>
            <a:pPr marL="373986" lvl="1" indent="-186993" algn="l">
              <a:lnSpc>
                <a:spcPts val="3719"/>
              </a:lnSpc>
            </a:pPr>
            <a:endParaRPr lang="en-US" sz="3200" b="1" dirty="0">
              <a:solidFill>
                <a:srgbClr val="000000"/>
              </a:solidFill>
              <a:latin typeface="Open Sauce Bold"/>
              <a:ea typeface="Open Sauce Bold"/>
              <a:cs typeface="Open Sauce Bold"/>
              <a:sym typeface="Open Sauce Bold"/>
            </a:endParaRPr>
          </a:p>
          <a:p>
            <a:pPr marL="373986" lvl="1" indent="-186993" algn="l">
              <a:lnSpc>
                <a:spcPts val="3719"/>
              </a:lnSpc>
              <a:buFont typeface="Arial"/>
              <a:buChar char="•"/>
            </a:pPr>
            <a:r>
              <a:rPr lang="en-US" sz="3200" b="1" dirty="0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Large volume of multi-year data</a:t>
            </a:r>
          </a:p>
          <a:p>
            <a:pPr marL="373986" lvl="1" indent="-186993" algn="l">
              <a:lnSpc>
                <a:spcPts val="3719"/>
              </a:lnSpc>
            </a:pPr>
            <a:endParaRPr lang="en-US" sz="3200" dirty="0">
              <a:solidFill>
                <a:srgbClr val="000000"/>
              </a:solidFill>
              <a:latin typeface="Open Sauce Bold"/>
              <a:ea typeface="Open Sauce Bold"/>
              <a:cs typeface="Open Sauce Bold"/>
              <a:sym typeface="Open Sauce Bold"/>
            </a:endParaRPr>
          </a:p>
          <a:p>
            <a:pPr marL="373986" lvl="1" indent="-186993" algn="l">
              <a:lnSpc>
                <a:spcPts val="3719"/>
              </a:lnSpc>
              <a:buFont typeface="Arial"/>
              <a:buChar char="•"/>
            </a:pPr>
            <a:r>
              <a:rPr lang="en-US" sz="3200" b="1" dirty="0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Standardizing party and constituency names</a:t>
            </a:r>
          </a:p>
          <a:p>
            <a:pPr marL="373986" lvl="1" indent="-186993" algn="l">
              <a:lnSpc>
                <a:spcPts val="3719"/>
              </a:lnSpc>
            </a:pPr>
            <a:endParaRPr lang="en-US" sz="3200" b="1" dirty="0">
              <a:solidFill>
                <a:srgbClr val="000000"/>
              </a:solidFill>
              <a:latin typeface="Open Sauce Bold"/>
              <a:ea typeface="Open Sauce Bold"/>
              <a:cs typeface="Open Sauce Bold"/>
              <a:sym typeface="Open Sauce Bold"/>
            </a:endParaRPr>
          </a:p>
          <a:p>
            <a:pPr marL="373986" lvl="1" indent="-186993" algn="l">
              <a:lnSpc>
                <a:spcPts val="3719"/>
              </a:lnSpc>
              <a:buFont typeface="Arial"/>
              <a:buChar char="•"/>
            </a:pPr>
            <a:r>
              <a:rPr lang="en-US" sz="3200" b="1" dirty="0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Creating accurate DAX measures</a:t>
            </a:r>
          </a:p>
          <a:p>
            <a:pPr marL="373986" lvl="1" indent="-186993" algn="l">
              <a:lnSpc>
                <a:spcPts val="3719"/>
              </a:lnSpc>
            </a:pPr>
            <a:endParaRPr lang="en-US" sz="3200" b="1" dirty="0">
              <a:solidFill>
                <a:srgbClr val="000000"/>
              </a:solidFill>
              <a:latin typeface="Open Sauce Bold"/>
              <a:ea typeface="Open Sauce Bold"/>
              <a:cs typeface="Open Sauce Bold"/>
              <a:sym typeface="Open Sauce Bold"/>
            </a:endParaRPr>
          </a:p>
          <a:p>
            <a:pPr marL="373986" lvl="1" indent="-186993" algn="l">
              <a:lnSpc>
                <a:spcPts val="3719"/>
              </a:lnSpc>
              <a:buFont typeface="Arial"/>
              <a:buChar char="•"/>
            </a:pPr>
            <a:r>
              <a:rPr lang="en-US" sz="3200" b="1" dirty="0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Optimizing dashboard performance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15544800" y="306029"/>
            <a:ext cx="2900201" cy="1438361"/>
            <a:chOff x="0" y="0"/>
            <a:chExt cx="3866934" cy="1917814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3866896" cy="1917827"/>
            </a:xfrm>
            <a:custGeom>
              <a:avLst/>
              <a:gdLst/>
              <a:ahLst/>
              <a:cxnLst/>
              <a:rect l="l" t="t" r="r" b="b"/>
              <a:pathLst>
                <a:path w="3866896" h="1917827">
                  <a:moveTo>
                    <a:pt x="0" y="0"/>
                  </a:moveTo>
                  <a:lnTo>
                    <a:pt x="3866896" y="0"/>
                  </a:lnTo>
                  <a:lnTo>
                    <a:pt x="3866896" y="1917827"/>
                  </a:lnTo>
                  <a:lnTo>
                    <a:pt x="0" y="19178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13009" b="-13009"/>
              </a:stretch>
            </a:blipFill>
          </p:spPr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50000"/>
              </a:blip>
              <a:stretch>
                <a:fillRect t="-16666" b="-16666"/>
              </a:stretch>
            </a:blipFill>
          </p:spPr>
        </p:sp>
      </p:grpSp>
      <p:sp>
        <p:nvSpPr>
          <p:cNvPr id="4" name="TextBox 4"/>
          <p:cNvSpPr txBox="1"/>
          <p:nvPr/>
        </p:nvSpPr>
        <p:spPr>
          <a:xfrm>
            <a:off x="532581" y="1790443"/>
            <a:ext cx="17755419" cy="74036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54256" lvl="2" indent="-251419" algn="l">
              <a:lnSpc>
                <a:spcPts val="5278"/>
              </a:lnSpc>
              <a:buFont typeface="Arial"/>
              <a:buChar char="⚬"/>
            </a:pPr>
            <a:r>
              <a:rPr lang="en-US" sz="3200" b="1" dirty="0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Successfully integrated and standardized multi-state election datasets.</a:t>
            </a:r>
          </a:p>
          <a:p>
            <a:pPr marL="754256" lvl="2" indent="-251419" algn="l">
              <a:lnSpc>
                <a:spcPts val="5278"/>
              </a:lnSpc>
            </a:pPr>
            <a:endParaRPr lang="en-US" sz="3200" b="1" dirty="0">
              <a:solidFill>
                <a:srgbClr val="000000"/>
              </a:solidFill>
              <a:latin typeface="Open Sauce Bold"/>
              <a:ea typeface="Open Sauce Bold"/>
              <a:cs typeface="Open Sauce Bold"/>
              <a:sym typeface="Open Sauce Bold"/>
            </a:endParaRPr>
          </a:p>
          <a:p>
            <a:pPr marL="754256" lvl="2" indent="-251419" algn="l">
              <a:lnSpc>
                <a:spcPts val="5278"/>
              </a:lnSpc>
              <a:buFont typeface="Arial"/>
              <a:buChar char="⚬"/>
            </a:pPr>
            <a:r>
              <a:rPr lang="en-US" sz="3200" b="1" dirty="0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Developed interactive Power BI dashboards for historical, real-time, and demographic analysis.</a:t>
            </a:r>
          </a:p>
          <a:p>
            <a:pPr marL="754256" lvl="2" indent="-251419" algn="l">
              <a:lnSpc>
                <a:spcPts val="5278"/>
              </a:lnSpc>
            </a:pPr>
            <a:endParaRPr lang="en-US" sz="3200" b="1" dirty="0">
              <a:solidFill>
                <a:srgbClr val="000000"/>
              </a:solidFill>
              <a:latin typeface="Open Sauce Bold"/>
              <a:ea typeface="Open Sauce Bold"/>
              <a:cs typeface="Open Sauce Bold"/>
              <a:sym typeface="Open Sauce Bold"/>
            </a:endParaRPr>
          </a:p>
          <a:p>
            <a:pPr marL="754256" lvl="2" indent="-251419" algn="l">
              <a:lnSpc>
                <a:spcPts val="5278"/>
              </a:lnSpc>
              <a:buFont typeface="Arial"/>
              <a:buChar char="⚬"/>
            </a:pPr>
            <a:r>
              <a:rPr lang="en-US" sz="3200" b="1" dirty="0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Enabled clear visualization of party performance, voter turnout, and electoral trends.</a:t>
            </a:r>
          </a:p>
          <a:p>
            <a:pPr marL="754256" lvl="2" indent="-251419" algn="l">
              <a:lnSpc>
                <a:spcPts val="5278"/>
              </a:lnSpc>
            </a:pPr>
            <a:endParaRPr lang="en-US" sz="3200" b="1" dirty="0">
              <a:solidFill>
                <a:srgbClr val="000000"/>
              </a:solidFill>
              <a:latin typeface="Open Sauce Bold"/>
              <a:ea typeface="Open Sauce Bold"/>
              <a:cs typeface="Open Sauce Bold"/>
              <a:sym typeface="Open Sauce Bold"/>
            </a:endParaRPr>
          </a:p>
          <a:p>
            <a:pPr marL="754256" lvl="2" indent="-251419" algn="l">
              <a:lnSpc>
                <a:spcPts val="5278"/>
              </a:lnSpc>
              <a:buFont typeface="Arial"/>
              <a:buChar char="⚬"/>
            </a:pPr>
            <a:r>
              <a:rPr lang="en-US" sz="3200" b="1" dirty="0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Provided data-driven insights to support news reporting and analytical decision-making.</a:t>
            </a:r>
          </a:p>
          <a:p>
            <a:pPr marL="754256" lvl="2" indent="-251419" algn="l">
              <a:lnSpc>
                <a:spcPts val="5278"/>
              </a:lnSpc>
            </a:pPr>
            <a:endParaRPr lang="en-US" sz="3298" b="1" dirty="0">
              <a:solidFill>
                <a:srgbClr val="000000"/>
              </a:solidFill>
              <a:latin typeface="Open Sauce Bold"/>
              <a:ea typeface="Open Sauce Bold"/>
              <a:cs typeface="Open Sauce Bold"/>
              <a:sym typeface="Open Sauce Bold"/>
            </a:endParaRPr>
          </a:p>
        </p:txBody>
      </p:sp>
      <p:grpSp>
        <p:nvGrpSpPr>
          <p:cNvPr id="5" name="Group 5"/>
          <p:cNvGrpSpPr/>
          <p:nvPr/>
        </p:nvGrpSpPr>
        <p:grpSpPr>
          <a:xfrm>
            <a:off x="15240000" y="1229"/>
            <a:ext cx="2900201" cy="1438361"/>
            <a:chOff x="0" y="0"/>
            <a:chExt cx="3866934" cy="191781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3866896" cy="1917827"/>
            </a:xfrm>
            <a:custGeom>
              <a:avLst/>
              <a:gdLst/>
              <a:ahLst/>
              <a:cxnLst/>
              <a:rect l="l" t="t" r="r" b="b"/>
              <a:pathLst>
                <a:path w="3866896" h="1917827">
                  <a:moveTo>
                    <a:pt x="0" y="0"/>
                  </a:moveTo>
                  <a:lnTo>
                    <a:pt x="3866896" y="0"/>
                  </a:lnTo>
                  <a:lnTo>
                    <a:pt x="3866896" y="1917827"/>
                  </a:lnTo>
                  <a:lnTo>
                    <a:pt x="0" y="19178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13009" b="-13009"/>
              </a:stretch>
            </a:blipFill>
          </p:spPr>
        </p:sp>
      </p:grpSp>
      <p:sp>
        <p:nvSpPr>
          <p:cNvPr id="7" name="TextBox 7"/>
          <p:cNvSpPr txBox="1"/>
          <p:nvPr/>
        </p:nvSpPr>
        <p:spPr>
          <a:xfrm>
            <a:off x="848211" y="420691"/>
            <a:ext cx="4104789" cy="9112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399"/>
              </a:lnSpc>
            </a:pPr>
            <a:r>
              <a:rPr lang="en-US" sz="3999" b="1" u="sng" dirty="0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CONCLUSION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73</TotalTime>
  <Words>436</Words>
  <Application>Microsoft Office PowerPoint</Application>
  <PresentationFormat>Custom</PresentationFormat>
  <Paragraphs>134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DM Serif Display</vt:lpstr>
      <vt:lpstr>Arial</vt:lpstr>
      <vt:lpstr>Calibri</vt:lpstr>
      <vt:lpstr>Open Sauce Bold</vt:lpstr>
      <vt:lpstr>Open Sauce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PRESENTED BY TEAM C GEETHIKA SUNIL JANHAVI SHARMA OMKAR DONGARE ASHUTOSH JHA</dc:title>
  <dc:creator>GEETHIKA SUNIL</dc:creator>
  <cp:lastModifiedBy>GEETHIKA SUNIL</cp:lastModifiedBy>
  <cp:revision>5</cp:revision>
  <dcterms:created xsi:type="dcterms:W3CDTF">2006-08-16T00:00:00Z</dcterms:created>
  <dcterms:modified xsi:type="dcterms:W3CDTF">2026-03-05T15:26:31Z</dcterms:modified>
  <dc:identifier>DAHDDdNUOmE</dc:identifier>
</cp:coreProperties>
</file>