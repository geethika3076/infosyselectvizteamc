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DM Serif Display" pitchFamily="2" charset="0"/>
      <p:regular r:id="rId18"/>
      <p:italic r:id="rId19"/>
    </p:embeddedFont>
    <p:embeddedFont>
      <p:font typeface="Open Sauce" panose="020B0604020202020204" charset="0"/>
      <p:regular r:id="rId20"/>
    </p:embeddedFont>
    <p:embeddedFont>
      <p:font typeface="Open Sauce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07971" b="-10797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873218" y="428539"/>
            <a:ext cx="4123973" cy="2675020"/>
            <a:chOff x="0" y="0"/>
            <a:chExt cx="5498630" cy="35666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98592" cy="3566668"/>
            </a:xfrm>
            <a:custGeom>
              <a:avLst/>
              <a:gdLst/>
              <a:ahLst/>
              <a:cxnLst/>
              <a:rect l="l" t="t" r="r" b="b"/>
              <a:pathLst>
                <a:path w="5498592" h="3566668">
                  <a:moveTo>
                    <a:pt x="0" y="0"/>
                  </a:moveTo>
                  <a:lnTo>
                    <a:pt x="5498592" y="0"/>
                  </a:lnTo>
                  <a:lnTo>
                    <a:pt x="5498592" y="3566668"/>
                  </a:lnTo>
                  <a:lnTo>
                    <a:pt x="0" y="356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92" r="-1893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337204" y="811673"/>
            <a:ext cx="9316374" cy="273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99"/>
              </a:lnSpc>
            </a:pPr>
            <a:r>
              <a:rPr lang="en-US" sz="14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ELECTVIZ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4571" y="3243720"/>
            <a:ext cx="10757773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8"/>
              </a:lnSpc>
            </a:pPr>
            <a:r>
              <a:rPr lang="en-US" sz="389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ELECTION DATA VISUALIZATION FOR MEDIA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9013" y="5351695"/>
            <a:ext cx="6846662" cy="328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3"/>
              </a:lnSpc>
            </a:pPr>
            <a:r>
              <a:rPr lang="en-US" sz="2758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TEAM C</a:t>
            </a:r>
          </a:p>
          <a:p>
            <a:pPr algn="ctr">
              <a:lnSpc>
                <a:spcPts val="4413"/>
              </a:lnSpc>
            </a:pPr>
            <a:r>
              <a:rPr lang="en-US" sz="275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GEETHIKA SUNIL</a:t>
            </a:r>
          </a:p>
          <a:p>
            <a:pPr algn="ctr">
              <a:lnSpc>
                <a:spcPts val="4413"/>
              </a:lnSpc>
            </a:pPr>
            <a:r>
              <a:rPr lang="en-US" sz="275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JANHAVI SHARMA</a:t>
            </a:r>
          </a:p>
          <a:p>
            <a:pPr algn="ctr">
              <a:lnSpc>
                <a:spcPts val="4413"/>
              </a:lnSpc>
            </a:pPr>
            <a:r>
              <a:rPr lang="en-US" sz="275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OMKAR DONGARE</a:t>
            </a:r>
          </a:p>
          <a:p>
            <a:pPr algn="ctr">
              <a:lnSpc>
                <a:spcPts val="4413"/>
              </a:lnSpc>
            </a:pPr>
            <a:r>
              <a:rPr lang="en-US" sz="275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ASHUTOSH JHA</a:t>
            </a:r>
          </a:p>
          <a:p>
            <a:pPr algn="l">
              <a:lnSpc>
                <a:spcPts val="4413"/>
              </a:lnSpc>
            </a:pPr>
            <a:endParaRPr lang="en-US" sz="2758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041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528" b="-6215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935200" y="81886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43940" y="2205933"/>
            <a:ext cx="15341360" cy="5971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9538" lvl="1" indent="-194769" algn="l">
              <a:lnSpc>
                <a:spcPts val="3874"/>
              </a:lnSpc>
              <a:buFont typeface="Arial"/>
              <a:buChar char="•"/>
            </a:pPr>
            <a:r>
              <a:rPr lang="en-US" sz="322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Integrate multi-election historical datasets</a:t>
            </a:r>
          </a:p>
          <a:p>
            <a:pPr marL="389538" lvl="1" indent="-194769" algn="l">
              <a:lnSpc>
                <a:spcPts val="3874"/>
              </a:lnSpc>
            </a:pPr>
            <a:endParaRPr lang="en-US" sz="3228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9538" lvl="1" indent="-194769" algn="l">
              <a:lnSpc>
                <a:spcPts val="3874"/>
              </a:lnSpc>
              <a:buFont typeface="Arial"/>
              <a:buChar char="•"/>
            </a:pPr>
            <a:r>
              <a:rPr lang="en-US" sz="322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Standardize and clean public election data</a:t>
            </a:r>
          </a:p>
          <a:p>
            <a:pPr marL="389538" lvl="1" indent="-194769" algn="l">
              <a:lnSpc>
                <a:spcPts val="3874"/>
              </a:lnSpc>
            </a:pPr>
            <a:endParaRPr lang="en-US" sz="3228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9538" lvl="1" indent="-194769" algn="l">
              <a:lnSpc>
                <a:spcPts val="3874"/>
              </a:lnSpc>
              <a:buFont typeface="Arial"/>
              <a:buChar char="•"/>
            </a:pPr>
            <a:r>
              <a:rPr lang="en-US" sz="322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Design star schema data model</a:t>
            </a:r>
          </a:p>
          <a:p>
            <a:pPr marL="389538" lvl="1" indent="-194769" algn="l">
              <a:lnSpc>
                <a:spcPts val="3874"/>
              </a:lnSpc>
            </a:pPr>
            <a:endParaRPr lang="en-US" sz="3228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9538" lvl="1" indent="-194769" algn="l">
              <a:lnSpc>
                <a:spcPts val="3874"/>
              </a:lnSpc>
              <a:buFont typeface="Arial"/>
              <a:buChar char="•"/>
            </a:pPr>
            <a:r>
              <a:rPr lang="en-US" sz="322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Develop interactive dashboards for media analysis</a:t>
            </a:r>
          </a:p>
          <a:p>
            <a:pPr marL="389538" lvl="1" indent="-194769" algn="l">
              <a:lnSpc>
                <a:spcPts val="3874"/>
              </a:lnSpc>
            </a:pPr>
            <a:endParaRPr lang="en-US" sz="3228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9538" lvl="1" indent="-194769" algn="l">
              <a:lnSpc>
                <a:spcPts val="3874"/>
              </a:lnSpc>
              <a:buFont typeface="Arial"/>
              <a:buChar char="•"/>
            </a:pPr>
            <a:r>
              <a:rPr lang="en-US" sz="322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Enable real-time and historical election insights</a:t>
            </a:r>
          </a:p>
          <a:p>
            <a:pPr marL="389538" lvl="1" indent="-194769" algn="l">
              <a:lnSpc>
                <a:spcPts val="3874"/>
              </a:lnSpc>
            </a:pPr>
            <a:endParaRPr lang="en-US" sz="3228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9538" lvl="1" indent="-194769" algn="l">
              <a:lnSpc>
                <a:spcPts val="3874"/>
              </a:lnSpc>
              <a:buFont typeface="Arial"/>
              <a:buChar char="•"/>
            </a:pPr>
            <a:r>
              <a:rPr lang="en-US" sz="322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Support data-driven reporting and broadcast visualization</a:t>
            </a:r>
          </a:p>
          <a:p>
            <a:pPr marL="389538" lvl="1" indent="-194769" algn="l">
              <a:lnSpc>
                <a:spcPts val="3874"/>
              </a:lnSpc>
            </a:pPr>
            <a:endParaRPr lang="en-US" sz="3228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2400" y="348615"/>
            <a:ext cx="7543800" cy="627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400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287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-12622" r="-126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161504" y="103680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615439" y="2567254"/>
            <a:ext cx="15643861" cy="47705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615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system:</a:t>
            </a:r>
          </a:p>
          <a:p>
            <a:pPr algn="l">
              <a:lnSpc>
                <a:spcPts val="3138"/>
              </a:lnSpc>
            </a:pPr>
            <a:endParaRPr lang="en-US" sz="2615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15550" lvl="1" indent="-157775" algn="l">
              <a:lnSpc>
                <a:spcPts val="3138"/>
              </a:lnSpc>
              <a:buFont typeface="Arial"/>
              <a:buChar char="•"/>
            </a:pPr>
            <a:r>
              <a:rPr lang="en-US" sz="2615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Imports multi-year Lok Sabha and Vidhan Sabha datasets</a:t>
            </a:r>
          </a:p>
          <a:p>
            <a:pPr marL="315550" lvl="1" indent="-157775" algn="l">
              <a:lnSpc>
                <a:spcPts val="3138"/>
              </a:lnSpc>
            </a:pPr>
            <a:endParaRPr lang="en-US" sz="2615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15550" lvl="1" indent="-157775" algn="l">
              <a:lnSpc>
                <a:spcPts val="3138"/>
              </a:lnSpc>
              <a:buFont typeface="Arial"/>
              <a:buChar char="•"/>
            </a:pPr>
            <a:r>
              <a:rPr lang="en-US" sz="2615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Cleans and standardizes state, constituency, party, and candidate data</a:t>
            </a:r>
          </a:p>
          <a:p>
            <a:pPr marL="315550" lvl="1" indent="-157775" algn="l">
              <a:lnSpc>
                <a:spcPts val="3138"/>
              </a:lnSpc>
            </a:pPr>
            <a:endParaRPr lang="en-US" sz="2615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15550" lvl="1" indent="-157775" algn="l">
              <a:lnSpc>
                <a:spcPts val="3138"/>
              </a:lnSpc>
              <a:buFont typeface="Arial"/>
              <a:buChar char="•"/>
            </a:pPr>
            <a:r>
              <a:rPr lang="en-US" sz="2615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Creates interactive dashboards with filtering and drill-down</a:t>
            </a:r>
          </a:p>
          <a:p>
            <a:pPr marL="315550" lvl="1" indent="-157775" algn="l">
              <a:lnSpc>
                <a:spcPts val="3138"/>
              </a:lnSpc>
            </a:pPr>
            <a:endParaRPr lang="en-US" sz="2615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15550" lvl="1" indent="-157775" algn="l">
              <a:lnSpc>
                <a:spcPts val="3138"/>
              </a:lnSpc>
              <a:buFont typeface="Arial"/>
              <a:buChar char="•"/>
            </a:pPr>
            <a:r>
              <a:rPr lang="en-US" sz="2615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Simulates real-time election result updates</a:t>
            </a:r>
          </a:p>
          <a:p>
            <a:pPr marL="315550" lvl="1" indent="-157775" algn="l">
              <a:lnSpc>
                <a:spcPts val="3138"/>
              </a:lnSpc>
            </a:pPr>
            <a:endParaRPr lang="en-US" sz="2615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15550" lvl="1" indent="-157775" algn="l">
              <a:lnSpc>
                <a:spcPts val="3138"/>
              </a:lnSpc>
              <a:buFont typeface="Arial"/>
              <a:buChar char="•"/>
            </a:pPr>
            <a:r>
              <a:rPr lang="en-US" sz="2615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Enables visualization of vote share, turnout and  party performance.</a:t>
            </a:r>
          </a:p>
          <a:p>
            <a:pPr marL="315550" lvl="1" indent="-157775" algn="l">
              <a:lnSpc>
                <a:spcPts val="3138"/>
              </a:lnSpc>
            </a:pPr>
            <a:endParaRPr lang="en-US" sz="2615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15440" y="836295"/>
            <a:ext cx="6294120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669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-1358" r="-13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368140" y="266700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2068743"/>
            <a:ext cx="15041654" cy="4953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7977" lvl="1" indent="-178989" algn="l">
              <a:lnSpc>
                <a:spcPts val="3560"/>
              </a:lnSpc>
              <a:buFont typeface="Arial"/>
              <a:buChar char="•"/>
            </a:pPr>
            <a:r>
              <a:rPr lang="en-US" sz="296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Historical data from multiple elections imported and cleaned</a:t>
            </a:r>
          </a:p>
          <a:p>
            <a:pPr marL="357977" lvl="1" indent="-178989" algn="l">
              <a:lnSpc>
                <a:spcPts val="3560"/>
              </a:lnSpc>
            </a:pPr>
            <a:endParaRPr lang="en-US" sz="2967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57977" lvl="1" indent="-178989" algn="l">
              <a:lnSpc>
                <a:spcPts val="3560"/>
              </a:lnSpc>
              <a:buFont typeface="Arial"/>
              <a:buChar char="•"/>
            </a:pPr>
            <a:r>
              <a:rPr lang="en-US" sz="296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Star schema created with valid relationships</a:t>
            </a:r>
          </a:p>
          <a:p>
            <a:pPr marL="357977" lvl="1" indent="-178989" algn="l">
              <a:lnSpc>
                <a:spcPts val="3560"/>
              </a:lnSpc>
            </a:pPr>
            <a:endParaRPr lang="en-US" sz="2967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842458" lvl="2" indent="-280819" algn="l">
              <a:lnSpc>
                <a:spcPts val="3560"/>
              </a:lnSpc>
              <a:buFont typeface="Arial"/>
              <a:buChar char="⚬"/>
            </a:pPr>
            <a:r>
              <a:rPr lang="en-US" sz="296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Candidates</a:t>
            </a:r>
          </a:p>
          <a:p>
            <a:pPr marL="842458" lvl="2" indent="-280819" algn="l">
              <a:lnSpc>
                <a:spcPts val="3560"/>
              </a:lnSpc>
            </a:pPr>
            <a:endParaRPr lang="en-US" sz="2967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842458" lvl="2" indent="-280819" algn="l">
              <a:lnSpc>
                <a:spcPts val="3560"/>
              </a:lnSpc>
              <a:buFont typeface="Arial"/>
              <a:buChar char="⚬"/>
            </a:pPr>
            <a:r>
              <a:rPr lang="en-US" sz="296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Votes</a:t>
            </a:r>
          </a:p>
          <a:p>
            <a:pPr marL="842458" lvl="2" indent="-280819" algn="l">
              <a:lnSpc>
                <a:spcPts val="3560"/>
              </a:lnSpc>
            </a:pPr>
            <a:endParaRPr lang="en-US" sz="2967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842458" lvl="2" indent="-280819" algn="l">
              <a:lnSpc>
                <a:spcPts val="3560"/>
              </a:lnSpc>
              <a:buFont typeface="Arial"/>
              <a:buChar char="⚬"/>
            </a:pPr>
            <a:r>
              <a:rPr lang="en-US" sz="296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Constituencies</a:t>
            </a:r>
          </a:p>
          <a:p>
            <a:pPr marL="842458" lvl="2" indent="-280819" algn="l">
              <a:lnSpc>
                <a:spcPts val="3560"/>
              </a:lnSpc>
            </a:pPr>
            <a:endParaRPr lang="en-US" sz="2967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842458" lvl="2" indent="-280819" algn="l">
              <a:lnSpc>
                <a:spcPts val="3560"/>
              </a:lnSpc>
              <a:buFont typeface="Arial"/>
              <a:buChar char="⚬"/>
            </a:pPr>
            <a:r>
              <a:rPr lang="en-US" sz="296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5400" y="133350"/>
            <a:ext cx="5257800" cy="1473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9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1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0781" r="-12313" b="-289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365682" y="94726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21082" y="1925603"/>
            <a:ext cx="13944600" cy="7696200"/>
            <a:chOff x="0" y="0"/>
            <a:chExt cx="18592800" cy="1026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592800" cy="10261600"/>
            </a:xfrm>
            <a:custGeom>
              <a:avLst/>
              <a:gdLst/>
              <a:ahLst/>
              <a:cxnLst/>
              <a:rect l="l" t="t" r="r" b="b"/>
              <a:pathLst>
                <a:path w="18592800" h="10261600">
                  <a:moveTo>
                    <a:pt x="0" y="0"/>
                  </a:moveTo>
                  <a:lnTo>
                    <a:pt x="18592800" y="0"/>
                  </a:lnTo>
                  <a:lnTo>
                    <a:pt x="18592800" y="10261600"/>
                  </a:lnTo>
                  <a:lnTo>
                    <a:pt x="0" y="1026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310" b="-43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-381000" y="1159793"/>
            <a:ext cx="12296680" cy="765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8"/>
              </a:lnSpc>
            </a:pPr>
            <a:r>
              <a:rPr lang="en-US" sz="3298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HISTORICAL TRENDS DASHBOARD-LOKSABHA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9640" y="534562"/>
            <a:ext cx="6183506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6666" b="-166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380427" y="75800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66800" y="1104900"/>
            <a:ext cx="14293129" cy="8077200"/>
            <a:chOff x="0" y="0"/>
            <a:chExt cx="19057506" cy="1076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57493" cy="10769600"/>
            </a:xfrm>
            <a:custGeom>
              <a:avLst/>
              <a:gdLst/>
              <a:ahLst/>
              <a:cxnLst/>
              <a:rect l="l" t="t" r="r" b="b"/>
              <a:pathLst>
                <a:path w="19057493" h="10769600">
                  <a:moveTo>
                    <a:pt x="0" y="0"/>
                  </a:moveTo>
                  <a:lnTo>
                    <a:pt x="19057493" y="0"/>
                  </a:lnTo>
                  <a:lnTo>
                    <a:pt x="19057493" y="10769600"/>
                  </a:lnTo>
                  <a:lnTo>
                    <a:pt x="0" y="1076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30" b="-23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04349" y="-93193"/>
            <a:ext cx="11301851" cy="740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8"/>
              </a:lnSpc>
            </a:pPr>
            <a:r>
              <a:rPr lang="en-US" sz="3298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HISTORICAL TRENDS DASHBOARD-VIDHANSABHA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48" b="-4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163800" y="35643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593502" y="531495"/>
            <a:ext cx="11954857" cy="625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HISTORICAL TRENDS DASHBOARD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3503" y="1464478"/>
            <a:ext cx="13991409" cy="524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3840" lvl="1" indent="-191920" algn="l">
              <a:lnSpc>
                <a:spcPts val="3817"/>
              </a:lnSpc>
              <a:buFont typeface="Arial"/>
              <a:buChar char="•"/>
            </a:pPr>
            <a:r>
              <a:rPr lang="en-US" sz="31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Vote Share Dashboard completed</a:t>
            </a:r>
          </a:p>
          <a:p>
            <a:pPr marL="383840" lvl="1" indent="-191920" algn="l">
              <a:lnSpc>
                <a:spcPts val="3817"/>
              </a:lnSpc>
            </a:pPr>
            <a:endParaRPr lang="en-US" sz="3181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3840" lvl="1" indent="-191920" algn="l">
              <a:lnSpc>
                <a:spcPts val="3817"/>
              </a:lnSpc>
              <a:buFont typeface="Arial"/>
              <a:buChar char="•"/>
            </a:pPr>
            <a:r>
              <a:rPr lang="en-US" sz="31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Turnout Dashboard completed</a:t>
            </a:r>
          </a:p>
          <a:p>
            <a:pPr marL="383840" lvl="1" indent="-191920" algn="l">
              <a:lnSpc>
                <a:spcPts val="3817"/>
              </a:lnSpc>
            </a:pPr>
            <a:endParaRPr lang="en-US" sz="3181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3840" lvl="1" indent="-191920" algn="l">
              <a:lnSpc>
                <a:spcPts val="3817"/>
              </a:lnSpc>
              <a:buFont typeface="Arial"/>
              <a:buChar char="•"/>
            </a:pPr>
            <a:r>
              <a:rPr lang="en-US" sz="31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Filter functionality enabled</a:t>
            </a:r>
          </a:p>
          <a:p>
            <a:pPr marL="383840" lvl="1" indent="-191920" algn="l">
              <a:lnSpc>
                <a:spcPts val="3817"/>
              </a:lnSpc>
            </a:pPr>
            <a:endParaRPr lang="en-US" sz="3181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903322" lvl="2" indent="-301107" algn="l">
              <a:lnSpc>
                <a:spcPts val="3817"/>
              </a:lnSpc>
              <a:buFont typeface="Arial"/>
              <a:buChar char="⚬"/>
            </a:pPr>
            <a:r>
              <a:rPr lang="en-US" sz="31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Year</a:t>
            </a:r>
          </a:p>
          <a:p>
            <a:pPr marL="903322" lvl="2" indent="-301107" algn="l">
              <a:lnSpc>
                <a:spcPts val="3817"/>
              </a:lnSpc>
            </a:pPr>
            <a:endParaRPr lang="en-US" sz="3181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903322" lvl="2" indent="-301107" algn="l">
              <a:lnSpc>
                <a:spcPts val="3817"/>
              </a:lnSpc>
              <a:buFont typeface="Arial"/>
              <a:buChar char="⚬"/>
            </a:pPr>
            <a:r>
              <a:rPr lang="en-US" sz="31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Party</a:t>
            </a:r>
          </a:p>
          <a:p>
            <a:pPr marL="903322" lvl="2" indent="-301107" algn="l">
              <a:lnSpc>
                <a:spcPts val="3817"/>
              </a:lnSpc>
            </a:pPr>
            <a:endParaRPr lang="en-US" sz="3181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903322" lvl="2" indent="-301107" algn="l">
              <a:lnSpc>
                <a:spcPts val="3817"/>
              </a:lnSpc>
              <a:buFont typeface="Arial"/>
              <a:buChar char="⚬"/>
            </a:pPr>
            <a:r>
              <a:rPr lang="en-US" sz="31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6666" b="-166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163800" y="0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-838200" y="585826"/>
            <a:ext cx="11116570" cy="765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8"/>
              </a:lnSpc>
            </a:pPr>
            <a:r>
              <a:rPr lang="en-US" sz="3298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 TIME RESULTS 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5415" y="181213"/>
            <a:ext cx="9113520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3F328A-5424-79B6-60E3-DA3836A5AB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415" y="1747837"/>
            <a:ext cx="14045060" cy="71294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" y="-22127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53930" b="-2384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240000" y="15973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691640" y="1836420"/>
            <a:ext cx="12847320" cy="551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Current leading party and seat distribution.</a:t>
            </a:r>
          </a:p>
          <a:p>
            <a:pPr marL="434340" lvl="1" indent="-217170" algn="l">
              <a:lnSpc>
                <a:spcPts val="4320"/>
              </a:lnSpc>
            </a:pPr>
            <a:endParaRPr lang="en-US" sz="3600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Narrow margins in competitive constituencies.</a:t>
            </a:r>
          </a:p>
          <a:p>
            <a:pPr marL="434340" lvl="1" indent="-217170" algn="l">
              <a:lnSpc>
                <a:spcPts val="4320"/>
              </a:lnSpc>
            </a:pPr>
            <a:endParaRPr lang="en-US" sz="3600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Regional dominance patterns.</a:t>
            </a:r>
          </a:p>
          <a:p>
            <a:pPr marL="434340" lvl="1" indent="-217170" algn="l">
              <a:lnSpc>
                <a:spcPts val="4320"/>
              </a:lnSpc>
            </a:pPr>
            <a:endParaRPr lang="en-US" sz="3600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Vote percentage gap between major parties.</a:t>
            </a:r>
          </a:p>
          <a:p>
            <a:pPr marL="434340" lvl="1" indent="-217170" algn="l">
              <a:lnSpc>
                <a:spcPts val="4320"/>
              </a:lnSpc>
            </a:pPr>
            <a:endParaRPr lang="en-US" sz="3600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Trend comparison with previous elections.</a:t>
            </a:r>
          </a:p>
          <a:p>
            <a:pPr marL="434340" lvl="1" indent="-217170" algn="l">
              <a:lnSpc>
                <a:spcPts val="4320"/>
              </a:lnSpc>
            </a:pPr>
            <a:endParaRPr lang="en-US" sz="3600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201930"/>
            <a:ext cx="5295900" cy="675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8"/>
              </a:lnSpc>
            </a:pPr>
            <a:r>
              <a:rPr lang="en-US" sz="3598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</a:t>
            </a:r>
            <a:r>
              <a:rPr lang="en-US" sz="400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185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-12146" r="-3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22928" y="2046608"/>
            <a:ext cx="16663387" cy="752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2941" lvl="2" indent="-220980" algn="l">
              <a:lnSpc>
                <a:spcPts val="4640"/>
              </a:lnSpc>
              <a:buFont typeface="Arial"/>
              <a:buChar char="⚬"/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Scope of Model: Analyze voter turnout patterns across states and demographics.</a:t>
            </a:r>
          </a:p>
          <a:p>
            <a:pPr marL="662941" lvl="2" indent="-220980" algn="l">
              <a:lnSpc>
                <a:spcPts val="4640"/>
              </a:lnSpc>
            </a:pPr>
            <a:endParaRPr lang="en-US" sz="2900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2941" lvl="2" indent="-220980" algn="l">
              <a:lnSpc>
                <a:spcPts val="4640"/>
              </a:lnSpc>
              <a:buFont typeface="Arial"/>
              <a:buChar char="⚬"/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Objective: Understand how demographic factors influence voter participation.</a:t>
            </a:r>
          </a:p>
          <a:p>
            <a:pPr marL="662941" lvl="2" indent="-220980" algn="l">
              <a:lnSpc>
                <a:spcPts val="4640"/>
              </a:lnSpc>
            </a:pPr>
            <a:endParaRPr lang="en-US" sz="2900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2941" lvl="2" indent="-220980" algn="l">
              <a:lnSpc>
                <a:spcPts val="4640"/>
              </a:lnSpc>
              <a:buFont typeface="Arial"/>
              <a:buChar char="⚬"/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Level of Analysis: State and constituency-level comparison with urban–rural segmentation</a:t>
            </a:r>
          </a:p>
          <a:p>
            <a:pPr marL="662941" lvl="2" indent="-220980" algn="l">
              <a:lnSpc>
                <a:spcPts val="4640"/>
              </a:lnSpc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  <a:p>
            <a:pPr marL="662941" lvl="2" indent="-220980" algn="l">
              <a:lnSpc>
                <a:spcPts val="4640"/>
              </a:lnSpc>
              <a:buFont typeface="Arial"/>
              <a:buChar char="⚬"/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Features: Interactive filtering by year, state, gender, and region.</a:t>
            </a:r>
          </a:p>
          <a:p>
            <a:pPr marL="662941" lvl="2" indent="-220980" algn="l">
              <a:lnSpc>
                <a:spcPts val="4640"/>
              </a:lnSpc>
            </a:pPr>
            <a:endParaRPr lang="en-US" sz="2900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2941" lvl="2" indent="-220980" algn="l">
              <a:lnSpc>
                <a:spcPts val="4640"/>
              </a:lnSpc>
              <a:buFont typeface="Arial"/>
              <a:buChar char="⚬"/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Visualization: Bar charts, pie charts, and heatmaps for turnout distribution.</a:t>
            </a:r>
          </a:p>
          <a:p>
            <a:pPr marL="662941" lvl="2" indent="-220980" algn="l">
              <a:lnSpc>
                <a:spcPts val="4640"/>
              </a:lnSpc>
            </a:pPr>
            <a:endParaRPr lang="en-US" sz="2900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2941" lvl="2" indent="-220980" algn="l">
              <a:lnSpc>
                <a:spcPts val="4640"/>
              </a:lnSpc>
              <a:buFont typeface="Arial"/>
              <a:buChar char="⚬"/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Insights: Identifies regions and demographics with high or low voter engagement.</a:t>
            </a:r>
          </a:p>
          <a:p>
            <a:pPr marL="662941" lvl="2" indent="-220980" algn="l">
              <a:lnSpc>
                <a:spcPts val="4640"/>
              </a:lnSpc>
            </a:pPr>
            <a:endParaRPr lang="en-US" sz="2900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240000" y="33185"/>
            <a:ext cx="2900201" cy="1438361"/>
            <a:chOff x="0" y="0"/>
            <a:chExt cx="3866934" cy="19178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381000" y="1059609"/>
            <a:ext cx="8421072" cy="740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8"/>
              </a:lnSpc>
            </a:pPr>
            <a:r>
              <a:rPr lang="en-US" sz="3298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Turnouts &amp; Demographic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8240" y="531495"/>
            <a:ext cx="8656320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6666" b="-1666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3671128" y="9103995"/>
            <a:ext cx="3450479" cy="31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8"/>
              </a:lnSpc>
            </a:pPr>
            <a:r>
              <a:rPr lang="en-US" sz="1599" spc="159">
                <a:solidFill>
                  <a:srgbClr val="000000">
                    <a:alpha val="49412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163800" y="117548"/>
            <a:ext cx="2900201" cy="1438361"/>
            <a:chOff x="0" y="0"/>
            <a:chExt cx="3866934" cy="19178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156564" y="1758039"/>
            <a:ext cx="15240000" cy="7848600"/>
            <a:chOff x="0" y="0"/>
            <a:chExt cx="20320000" cy="10464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320000" cy="10464800"/>
            </a:xfrm>
            <a:custGeom>
              <a:avLst/>
              <a:gdLst/>
              <a:ahLst/>
              <a:cxnLst/>
              <a:rect l="l" t="t" r="r" b="b"/>
              <a:pathLst>
                <a:path w="20320000" h="10464800">
                  <a:moveTo>
                    <a:pt x="0" y="0"/>
                  </a:moveTo>
                  <a:lnTo>
                    <a:pt x="20320000" y="0"/>
                  </a:lnTo>
                  <a:lnTo>
                    <a:pt x="20320000" y="10464800"/>
                  </a:lnTo>
                  <a:lnTo>
                    <a:pt x="0" y="1046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90108" y="42977"/>
            <a:ext cx="7820492" cy="793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499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DEMOGRAPHICS DASHBOARD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BAEA64-5E67-9C58-DD3D-9FAF31341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564" y="1758039"/>
            <a:ext cx="15240000" cy="784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0258" b="-637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85800" y="1601776"/>
            <a:ext cx="13987318" cy="5962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4972" lvl="2" indent="-221657" algn="l">
              <a:lnSpc>
                <a:spcPts val="4654"/>
              </a:lnSpc>
              <a:buFont typeface="Arial"/>
              <a:buChar char="⚬"/>
            </a:pPr>
            <a:r>
              <a:rPr lang="en-US" sz="290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Analyzes party-wise seat share and vote percentage across elections</a:t>
            </a:r>
          </a:p>
          <a:p>
            <a:pPr marL="664972" lvl="2" indent="-221657" algn="l">
              <a:lnSpc>
                <a:spcPts val="4654"/>
              </a:lnSpc>
            </a:pPr>
            <a:endParaRPr lang="en-US" sz="2908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4972" lvl="2" indent="-221657" algn="l">
              <a:lnSpc>
                <a:spcPts val="4654"/>
              </a:lnSpc>
              <a:buFont typeface="Arial"/>
              <a:buChar char="⚬"/>
            </a:pPr>
            <a:r>
              <a:rPr lang="en-US" sz="290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Compares performance of different parties over multiple years</a:t>
            </a:r>
          </a:p>
          <a:p>
            <a:pPr marL="664972" lvl="2" indent="-221657" algn="l">
              <a:lnSpc>
                <a:spcPts val="4654"/>
              </a:lnSpc>
            </a:pPr>
            <a:endParaRPr lang="en-US" sz="2908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4972" lvl="2" indent="-221657" algn="l">
              <a:lnSpc>
                <a:spcPts val="4654"/>
              </a:lnSpc>
              <a:buFont typeface="Arial"/>
              <a:buChar char="⚬"/>
            </a:pPr>
            <a:r>
              <a:rPr lang="en-US" sz="290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Evaluates candidate win/loss margins and re-election trends</a:t>
            </a:r>
          </a:p>
          <a:p>
            <a:pPr marL="664972" lvl="2" indent="-221657" algn="l">
              <a:lnSpc>
                <a:spcPts val="4654"/>
              </a:lnSpc>
            </a:pPr>
            <a:endParaRPr lang="en-US" sz="2908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4972" lvl="2" indent="-221657" algn="l">
              <a:lnSpc>
                <a:spcPts val="4654"/>
              </a:lnSpc>
              <a:buFont typeface="Arial"/>
              <a:buChar char="⚬"/>
            </a:pPr>
            <a:r>
              <a:rPr lang="en-US" sz="290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Identifies top-performing candidates and competitive constituencies</a:t>
            </a:r>
          </a:p>
          <a:p>
            <a:pPr marL="664972" lvl="2" indent="-221657" algn="l">
              <a:lnSpc>
                <a:spcPts val="4654"/>
              </a:lnSpc>
            </a:pPr>
            <a:endParaRPr lang="en-US" sz="2908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4972" lvl="2" indent="-221657" algn="l">
              <a:lnSpc>
                <a:spcPts val="4654"/>
              </a:lnSpc>
              <a:buFont typeface="Arial"/>
              <a:buChar char="⚬"/>
            </a:pPr>
            <a:r>
              <a:rPr lang="en-US" sz="290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Provides drill-down analysis at state and constituency levels</a:t>
            </a:r>
          </a:p>
          <a:p>
            <a:pPr marL="664972" lvl="2" indent="-221657" algn="ctr">
              <a:lnSpc>
                <a:spcPts val="4654"/>
              </a:lnSpc>
            </a:pPr>
            <a:endParaRPr lang="en-US" sz="2908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240000" y="126911"/>
            <a:ext cx="2900201" cy="1438361"/>
            <a:chOff x="0" y="0"/>
            <a:chExt cx="3866934" cy="19178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0" y="771515"/>
            <a:ext cx="13542635" cy="64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499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PARTY AND CANDIDATE PERFORMANCE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2040" y="305267"/>
            <a:ext cx="11094720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6666" b="-1666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387799" y="309520"/>
            <a:ext cx="2900201" cy="1438361"/>
            <a:chOff x="0" y="0"/>
            <a:chExt cx="3866934" cy="19178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94DE61C-362E-E98C-8093-D608D51CB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52500"/>
            <a:ext cx="14020799" cy="807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30920" b="-851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82040" y="1607820"/>
            <a:ext cx="13761720" cy="667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endParaRPr dirty="0"/>
          </a:p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The project execution included:</a:t>
            </a:r>
          </a:p>
          <a:p>
            <a:pPr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Multi-source election dataset integration</a:t>
            </a:r>
          </a:p>
          <a:p>
            <a:pPr marL="289560" lvl="1" indent="-14478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cleaning and transformation using Power Query</a:t>
            </a:r>
          </a:p>
          <a:p>
            <a:pPr marL="289560" lvl="1" indent="-14478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DAX measures for:</a:t>
            </a:r>
          </a:p>
          <a:p>
            <a:pPr marL="289560" lvl="1" indent="-14478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46760" lvl="2" indent="-248920" algn="l">
              <a:lnSpc>
                <a:spcPts val="2879"/>
              </a:lnSpc>
              <a:buFont typeface="Arial"/>
              <a:buChar char="⚬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Vote %</a:t>
            </a:r>
          </a:p>
          <a:p>
            <a:pPr marL="746760" lvl="2" indent="-24892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46760" lvl="2" indent="-248920" algn="l">
              <a:lnSpc>
                <a:spcPts val="2879"/>
              </a:lnSpc>
              <a:buFont typeface="Arial"/>
              <a:buChar char="⚬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Seat Share</a:t>
            </a:r>
          </a:p>
          <a:p>
            <a:pPr marL="746760" lvl="2" indent="-24892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46760" lvl="2" indent="-248920" algn="l">
              <a:lnSpc>
                <a:spcPts val="2879"/>
              </a:lnSpc>
              <a:buFont typeface="Arial"/>
              <a:buChar char="⚬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Turnout %</a:t>
            </a:r>
          </a:p>
          <a:p>
            <a:pPr marL="746760" lvl="2" indent="-24892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Dashboard development in Power BI</a:t>
            </a:r>
          </a:p>
          <a:p>
            <a:pPr marL="289560" lvl="1" indent="-14478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Interactive filtering and drill-through configuration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2040" y="531495"/>
            <a:ext cx="7970520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EXECUTION DETAILS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392400" y="153629"/>
            <a:ext cx="2900201" cy="1438361"/>
            <a:chOff x="0" y="0"/>
            <a:chExt cx="3866934" cy="19178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3872" b="-387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463040" y="683895"/>
            <a:ext cx="6598920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CHALLENGES FACED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200" y="2120148"/>
            <a:ext cx="12526340" cy="4744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endParaRPr sz="3200" dirty="0"/>
          </a:p>
          <a:p>
            <a:pPr marL="373986" lvl="1" indent="-186993" algn="l">
              <a:lnSpc>
                <a:spcPts val="371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Inconsistent state-wise dataset formats</a:t>
            </a:r>
          </a:p>
          <a:p>
            <a:pPr marL="373986" lvl="1" indent="-186993" algn="l">
              <a:lnSpc>
                <a:spcPts val="3719"/>
              </a:lnSpc>
            </a:pPr>
            <a:endParaRPr lang="en-US" sz="32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73986" lvl="1" indent="-186993" algn="l">
              <a:lnSpc>
                <a:spcPts val="371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Large volume of multi-year data</a:t>
            </a:r>
          </a:p>
          <a:p>
            <a:pPr marL="373986" lvl="1" indent="-186993" algn="l">
              <a:lnSpc>
                <a:spcPts val="3719"/>
              </a:lnSpc>
            </a:pPr>
            <a:endParaRPr lang="en-US" sz="3200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73986" lvl="1" indent="-186993" algn="l">
              <a:lnSpc>
                <a:spcPts val="371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Standardizing party and constituency names</a:t>
            </a:r>
          </a:p>
          <a:p>
            <a:pPr marL="373986" lvl="1" indent="-186993" algn="l">
              <a:lnSpc>
                <a:spcPts val="3719"/>
              </a:lnSpc>
            </a:pPr>
            <a:endParaRPr lang="en-US" sz="32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73986" lvl="1" indent="-186993" algn="l">
              <a:lnSpc>
                <a:spcPts val="371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Creating accurate DAX measures</a:t>
            </a:r>
          </a:p>
          <a:p>
            <a:pPr marL="373986" lvl="1" indent="-186993" algn="l">
              <a:lnSpc>
                <a:spcPts val="3719"/>
              </a:lnSpc>
            </a:pPr>
            <a:endParaRPr lang="en-US" sz="32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73986" lvl="1" indent="-186993" algn="l">
              <a:lnSpc>
                <a:spcPts val="371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Optimizing dashboard performance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544800" y="306029"/>
            <a:ext cx="2900201" cy="1438361"/>
            <a:chOff x="0" y="0"/>
            <a:chExt cx="3866934" cy="19178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6666" b="-1666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532581" y="1790443"/>
            <a:ext cx="17755419" cy="7403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4256" lvl="2" indent="-251419" algn="l">
              <a:lnSpc>
                <a:spcPts val="5278"/>
              </a:lnSpc>
              <a:buFont typeface="Arial"/>
              <a:buChar char="⚬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Successfully integrated and standardized multi-state election datasets.</a:t>
            </a:r>
          </a:p>
          <a:p>
            <a:pPr marL="754256" lvl="2" indent="-251419" algn="l">
              <a:lnSpc>
                <a:spcPts val="5278"/>
              </a:lnSpc>
            </a:pPr>
            <a:endParaRPr lang="en-US" sz="32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54256" lvl="2" indent="-251419" algn="l">
              <a:lnSpc>
                <a:spcPts val="5278"/>
              </a:lnSpc>
              <a:buFont typeface="Arial"/>
              <a:buChar char="⚬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Developed interactive Power BI dashboards for historical, real-time, and demographic analysis.</a:t>
            </a:r>
          </a:p>
          <a:p>
            <a:pPr marL="754256" lvl="2" indent="-251419" algn="l">
              <a:lnSpc>
                <a:spcPts val="5278"/>
              </a:lnSpc>
            </a:pPr>
            <a:endParaRPr lang="en-US" sz="32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54256" lvl="2" indent="-251419" algn="l">
              <a:lnSpc>
                <a:spcPts val="5278"/>
              </a:lnSpc>
              <a:buFont typeface="Arial"/>
              <a:buChar char="⚬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Enabled clear visualization of party performance, voter turnout, and electoral trends.</a:t>
            </a:r>
          </a:p>
          <a:p>
            <a:pPr marL="754256" lvl="2" indent="-251419" algn="l">
              <a:lnSpc>
                <a:spcPts val="5278"/>
              </a:lnSpc>
            </a:pPr>
            <a:endParaRPr lang="en-US" sz="32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54256" lvl="2" indent="-251419" algn="l">
              <a:lnSpc>
                <a:spcPts val="5278"/>
              </a:lnSpc>
              <a:buFont typeface="Arial"/>
              <a:buChar char="⚬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Provided data-driven insights to support news reporting and analytical decision-making.</a:t>
            </a:r>
          </a:p>
          <a:p>
            <a:pPr marL="754256" lvl="2" indent="-251419" algn="l">
              <a:lnSpc>
                <a:spcPts val="5278"/>
              </a:lnSpc>
            </a:pPr>
            <a:endParaRPr lang="en-US" sz="3298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240000" y="1229"/>
            <a:ext cx="2900201" cy="1438361"/>
            <a:chOff x="0" y="0"/>
            <a:chExt cx="3866934" cy="19178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848211" y="420691"/>
            <a:ext cx="4104789" cy="911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3999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436</Words>
  <Application>Microsoft Office PowerPoint</Application>
  <PresentationFormat>Custom</PresentationFormat>
  <Paragraphs>134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Open Sauce Bold</vt:lpstr>
      <vt:lpstr>Calibri</vt:lpstr>
      <vt:lpstr>Open Sauce</vt:lpstr>
      <vt:lpstr>Arial</vt:lpstr>
      <vt:lpstr>DM Serif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 TEAM C GEETHIKA SUNIL JANHAVI SHARMA OMKAR DONGARE ASHUTOSH JHA</dc:title>
  <dc:creator>GEETHIKA SUNIL</dc:creator>
  <cp:lastModifiedBy>GEETHIKA SUNIL</cp:lastModifiedBy>
  <cp:revision>5</cp:revision>
  <dcterms:created xsi:type="dcterms:W3CDTF">2006-08-16T00:00:00Z</dcterms:created>
  <dcterms:modified xsi:type="dcterms:W3CDTF">2026-03-05T09:48:55Z</dcterms:modified>
  <dc:identifier>DAHDDdNUOmE</dc:identifier>
</cp:coreProperties>
</file>